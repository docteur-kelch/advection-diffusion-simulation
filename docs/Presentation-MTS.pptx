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0" r:id="rId4"/>
  </p:sldMasterIdLst>
  <p:notesMasterIdLst>
    <p:notesMasterId r:id="rId21"/>
  </p:notesMasterIdLst>
  <p:handoutMasterIdLst>
    <p:handoutMasterId r:id="rId22"/>
  </p:handoutMasterIdLst>
  <p:sldIdLst>
    <p:sldId id="308" r:id="rId5"/>
    <p:sldId id="299" r:id="rId6"/>
    <p:sldId id="304" r:id="rId7"/>
    <p:sldId id="317" r:id="rId8"/>
    <p:sldId id="328" r:id="rId9"/>
    <p:sldId id="318" r:id="rId10"/>
    <p:sldId id="319" r:id="rId11"/>
    <p:sldId id="320" r:id="rId12"/>
    <p:sldId id="321" r:id="rId13"/>
    <p:sldId id="322" r:id="rId14"/>
    <p:sldId id="327" r:id="rId15"/>
    <p:sldId id="324" r:id="rId16"/>
    <p:sldId id="325" r:id="rId17"/>
    <p:sldId id="326" r:id="rId18"/>
    <p:sldId id="272" r:id="rId19"/>
    <p:sldId id="316"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BF33"/>
    <a:srgbClr val="296A6F"/>
    <a:srgbClr val="0E282A"/>
    <a:srgbClr val="85D569"/>
    <a:srgbClr val="D6A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19" autoAdjust="0"/>
  </p:normalViewPr>
  <p:slideViewPr>
    <p:cSldViewPr snapToGrid="0">
      <p:cViewPr varScale="1">
        <p:scale>
          <a:sx n="87" d="100"/>
          <a:sy n="87" d="100"/>
        </p:scale>
        <p:origin x="547" y="62"/>
      </p:cViewPr>
      <p:guideLst/>
    </p:cSldViewPr>
  </p:slideViewPr>
  <p:notesTextViewPr>
    <p:cViewPr>
      <p:scale>
        <a:sx n="3" d="2"/>
        <a:sy n="3" d="2"/>
      </p:scale>
      <p:origin x="0" y="0"/>
    </p:cViewPr>
  </p:notesTextViewPr>
  <p:notesViewPr>
    <p:cSldViewPr snapToGrid="0">
      <p:cViewPr varScale="1">
        <p:scale>
          <a:sx n="85" d="100"/>
          <a:sy n="85" d="100"/>
        </p:scale>
        <p:origin x="380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C2D11A-4A4C-4762-9A3D-38B816BFA086}" type="datetimeFigureOut">
              <a:rPr lang="fr-FR" smtClean="0"/>
              <a:t>22/01/2026</a:t>
            </a:fld>
            <a:endParaRPr lang="fr-FR"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029993-E93F-4628-BDE0-2946103AC1B3}" type="slidenum">
              <a:rPr lang="fr-FR" smtClean="0"/>
              <a:t>‹N°›</a:t>
            </a:fld>
            <a:endParaRPr lang="fr-FR" dirty="0"/>
          </a:p>
        </p:txBody>
      </p:sp>
    </p:spTree>
    <p:extLst>
      <p:ext uri="{BB962C8B-B14F-4D97-AF65-F5344CB8AC3E}">
        <p14:creationId xmlns:p14="http://schemas.microsoft.com/office/powerpoint/2010/main" val="30719978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3E8838-E61C-436D-81FA-CFC9A861CF2C}" type="datetimeFigureOut">
              <a:rPr lang="fr-FR" noProof="0" smtClean="0"/>
              <a:t>22/01/2026</a:t>
            </a:fld>
            <a:endParaRPr lang="fr-FR" noProof="0"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noProof="0"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dirty="0"/>
              <a:t>Modifiez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B0C060-F7D4-4C65-826A-795CA5BE88E2}" type="slidenum">
              <a:rPr lang="fr-FR" noProof="0" smtClean="0"/>
              <a:t>‹N°›</a:t>
            </a:fld>
            <a:endParaRPr lang="fr-FR" noProof="0" dirty="0"/>
          </a:p>
        </p:txBody>
      </p:sp>
    </p:spTree>
    <p:extLst>
      <p:ext uri="{BB962C8B-B14F-4D97-AF65-F5344CB8AC3E}">
        <p14:creationId xmlns:p14="http://schemas.microsoft.com/office/powerpoint/2010/main" val="231712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1DB0C060-F7D4-4C65-826A-795CA5BE88E2}" type="slidenum">
              <a:rPr lang="fr-FR" noProof="0" smtClean="0"/>
              <a:t>1</a:t>
            </a:fld>
            <a:endParaRPr lang="fr-FR" noProof="0" dirty="0"/>
          </a:p>
        </p:txBody>
      </p:sp>
    </p:spTree>
    <p:extLst>
      <p:ext uri="{BB962C8B-B14F-4D97-AF65-F5344CB8AC3E}">
        <p14:creationId xmlns:p14="http://schemas.microsoft.com/office/powerpoint/2010/main" val="2122091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0A76D0-4730-6E4C-7068-9CE528BC552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30EC543-202F-56DC-2DC5-5E67B7F15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8EEE11C-67C9-E900-D8E0-6DD360D8AACE}"/>
              </a:ext>
            </a:extLst>
          </p:cNvPr>
          <p:cNvSpPr>
            <a:spLocks noGrp="1"/>
          </p:cNvSpPr>
          <p:nvPr>
            <p:ph type="dt" sz="half" idx="10"/>
          </p:nvPr>
        </p:nvSpPr>
        <p:spPr/>
        <p:txBody>
          <a:bodyPr/>
          <a:lstStyle/>
          <a:p>
            <a:pPr rtl="0"/>
            <a:fld id="{92829AA3-688F-4FAF-9C70-2EAED5DE0A5F}" type="datetime1">
              <a:rPr lang="fr-FR" noProof="0" smtClean="0"/>
              <a:t>22/01/2026</a:t>
            </a:fld>
            <a:endParaRPr lang="fr-FR" noProof="0" dirty="0"/>
          </a:p>
        </p:txBody>
      </p:sp>
      <p:sp>
        <p:nvSpPr>
          <p:cNvPr id="5" name="Espace réservé du pied de page 4">
            <a:extLst>
              <a:ext uri="{FF2B5EF4-FFF2-40B4-BE49-F238E27FC236}">
                <a16:creationId xmlns:a16="http://schemas.microsoft.com/office/drawing/2014/main" id="{B6194296-1802-7CDC-22C1-504212E55CA0}"/>
              </a:ext>
            </a:extLst>
          </p:cNvPr>
          <p:cNvSpPr>
            <a:spLocks noGrp="1"/>
          </p:cNvSpPr>
          <p:nvPr>
            <p:ph type="ftr" sz="quarter" idx="11"/>
          </p:nvPr>
        </p:nvSpPr>
        <p:spPr/>
        <p:txBody>
          <a:bodyPr/>
          <a:lstStyle/>
          <a:p>
            <a:pPr rtl="0"/>
            <a:endParaRPr lang="fr-FR" noProof="0" dirty="0"/>
          </a:p>
        </p:txBody>
      </p:sp>
      <p:sp>
        <p:nvSpPr>
          <p:cNvPr id="6" name="Espace réservé du numéro de diapositive 5">
            <a:extLst>
              <a:ext uri="{FF2B5EF4-FFF2-40B4-BE49-F238E27FC236}">
                <a16:creationId xmlns:a16="http://schemas.microsoft.com/office/drawing/2014/main" id="{5A182D0C-8B0C-3401-4FC0-1AC13183277A}"/>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530850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FC669D-DA6C-5565-EFB9-705F408D2B4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3176DE5-1618-DA12-3E13-A8D70C330C1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E1B10C7-519B-0146-DFA4-FAE531FC3714}"/>
              </a:ext>
            </a:extLst>
          </p:cNvPr>
          <p:cNvSpPr>
            <a:spLocks noGrp="1"/>
          </p:cNvSpPr>
          <p:nvPr>
            <p:ph type="dt" sz="half" idx="10"/>
          </p:nvPr>
        </p:nvSpPr>
        <p:spPr/>
        <p:txBody>
          <a:bodyPr/>
          <a:lstStyle/>
          <a:p>
            <a:pPr rtl="0"/>
            <a:fld id="{3B779C31-26A2-4001-8DD7-CEA4A5920D6F}" type="datetime1">
              <a:rPr lang="fr-FR" noProof="0" smtClean="0"/>
              <a:t>22/01/2026</a:t>
            </a:fld>
            <a:endParaRPr lang="fr-FR" noProof="0" dirty="0"/>
          </a:p>
        </p:txBody>
      </p:sp>
      <p:sp>
        <p:nvSpPr>
          <p:cNvPr id="5" name="Espace réservé du pied de page 4">
            <a:extLst>
              <a:ext uri="{FF2B5EF4-FFF2-40B4-BE49-F238E27FC236}">
                <a16:creationId xmlns:a16="http://schemas.microsoft.com/office/drawing/2014/main" id="{CFDD4AC2-6832-D617-8D02-B27796202EDD}"/>
              </a:ext>
            </a:extLst>
          </p:cNvPr>
          <p:cNvSpPr>
            <a:spLocks noGrp="1"/>
          </p:cNvSpPr>
          <p:nvPr>
            <p:ph type="ftr" sz="quarter" idx="11"/>
          </p:nvPr>
        </p:nvSpPr>
        <p:spPr/>
        <p:txBody>
          <a:bodyPr/>
          <a:lstStyle/>
          <a:p>
            <a:pPr rtl="0"/>
            <a:endParaRPr lang="fr-FR" noProof="0" dirty="0"/>
          </a:p>
        </p:txBody>
      </p:sp>
      <p:sp>
        <p:nvSpPr>
          <p:cNvPr id="6" name="Espace réservé du numéro de diapositive 5">
            <a:extLst>
              <a:ext uri="{FF2B5EF4-FFF2-40B4-BE49-F238E27FC236}">
                <a16:creationId xmlns:a16="http://schemas.microsoft.com/office/drawing/2014/main" id="{D27CE58A-5872-FC76-E912-3027849F7250}"/>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3106090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344877-839A-2E4A-A5CB-B422F413B68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D895A2F-63DF-B6BB-CE72-3301C81A37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D3281F5-5213-E28C-9B40-473008950CC8}"/>
              </a:ext>
            </a:extLst>
          </p:cNvPr>
          <p:cNvSpPr>
            <a:spLocks noGrp="1"/>
          </p:cNvSpPr>
          <p:nvPr>
            <p:ph type="dt" sz="half" idx="10"/>
          </p:nvPr>
        </p:nvSpPr>
        <p:spPr/>
        <p:txBody>
          <a:bodyPr/>
          <a:lstStyle/>
          <a:p>
            <a:pPr rtl="0"/>
            <a:fld id="{0F708A2A-6F02-48A2-99AD-832CF5AA71DA}" type="datetime1">
              <a:rPr lang="fr-FR" noProof="0" smtClean="0"/>
              <a:t>22/01/2026</a:t>
            </a:fld>
            <a:endParaRPr lang="fr-FR" noProof="0" dirty="0"/>
          </a:p>
        </p:txBody>
      </p:sp>
      <p:sp>
        <p:nvSpPr>
          <p:cNvPr id="5" name="Espace réservé du pied de page 4">
            <a:extLst>
              <a:ext uri="{FF2B5EF4-FFF2-40B4-BE49-F238E27FC236}">
                <a16:creationId xmlns:a16="http://schemas.microsoft.com/office/drawing/2014/main" id="{D5A9F0B5-1E42-D094-721E-5A5D847DDFD8}"/>
              </a:ext>
            </a:extLst>
          </p:cNvPr>
          <p:cNvSpPr>
            <a:spLocks noGrp="1"/>
          </p:cNvSpPr>
          <p:nvPr>
            <p:ph type="ftr" sz="quarter" idx="11"/>
          </p:nvPr>
        </p:nvSpPr>
        <p:spPr/>
        <p:txBody>
          <a:bodyPr/>
          <a:lstStyle/>
          <a:p>
            <a:pPr rtl="0"/>
            <a:endParaRPr lang="fr-FR" noProof="0" dirty="0"/>
          </a:p>
        </p:txBody>
      </p:sp>
      <p:sp>
        <p:nvSpPr>
          <p:cNvPr id="6" name="Espace réservé du numéro de diapositive 5">
            <a:extLst>
              <a:ext uri="{FF2B5EF4-FFF2-40B4-BE49-F238E27FC236}">
                <a16:creationId xmlns:a16="http://schemas.microsoft.com/office/drawing/2014/main" id="{F46C1EFC-E4CC-2E5E-F658-44AF191175DB}"/>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126193500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51012C-D5E8-6F37-2A2E-331D5ABB738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7C68743-D215-8A42-06C4-FDADBAA305A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E4DB3F6-F441-CBFA-BCE2-6B0781FF43C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A8ADC23-445B-9CD9-70E7-9975D864BC55}"/>
              </a:ext>
            </a:extLst>
          </p:cNvPr>
          <p:cNvSpPr>
            <a:spLocks noGrp="1"/>
          </p:cNvSpPr>
          <p:nvPr>
            <p:ph type="dt" sz="half" idx="10"/>
          </p:nvPr>
        </p:nvSpPr>
        <p:spPr/>
        <p:txBody>
          <a:bodyPr/>
          <a:lstStyle/>
          <a:p>
            <a:pPr rtl="0"/>
            <a:fld id="{AB61C57D-29E7-4B9C-9AAF-84272FBE0476}" type="datetime1">
              <a:rPr lang="fr-FR" noProof="0" smtClean="0"/>
              <a:t>22/01/2026</a:t>
            </a:fld>
            <a:endParaRPr lang="fr-FR" noProof="0" dirty="0"/>
          </a:p>
        </p:txBody>
      </p:sp>
      <p:sp>
        <p:nvSpPr>
          <p:cNvPr id="6" name="Espace réservé du pied de page 5">
            <a:extLst>
              <a:ext uri="{FF2B5EF4-FFF2-40B4-BE49-F238E27FC236}">
                <a16:creationId xmlns:a16="http://schemas.microsoft.com/office/drawing/2014/main" id="{E6AB53B3-57FE-628C-B269-AC140B26534E}"/>
              </a:ext>
            </a:extLst>
          </p:cNvPr>
          <p:cNvSpPr>
            <a:spLocks noGrp="1"/>
          </p:cNvSpPr>
          <p:nvPr>
            <p:ph type="ftr" sz="quarter" idx="11"/>
          </p:nvPr>
        </p:nvSpPr>
        <p:spPr/>
        <p:txBody>
          <a:bodyPr/>
          <a:lstStyle/>
          <a:p>
            <a:pPr rtl="0"/>
            <a:endParaRPr lang="fr-FR" noProof="0" dirty="0"/>
          </a:p>
        </p:txBody>
      </p:sp>
      <p:sp>
        <p:nvSpPr>
          <p:cNvPr id="7" name="Espace réservé du numéro de diapositive 6">
            <a:extLst>
              <a:ext uri="{FF2B5EF4-FFF2-40B4-BE49-F238E27FC236}">
                <a16:creationId xmlns:a16="http://schemas.microsoft.com/office/drawing/2014/main" id="{17A654C4-7D62-4A30-7069-8AD8C159511B}"/>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2016805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28D653-9994-DE73-76AB-697A2F2695B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CF9CC0A-6040-C54F-1D8F-15AD1DDBAE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BF9E399-1530-F507-7ADF-A9F13ACFE24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27EB9BC-F77A-9EBA-8259-009364E70A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DA5FD73-F2D5-B2D9-F3CD-E9DDF60F2D9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C642C56-703A-2F25-68A9-5344ACB04054}"/>
              </a:ext>
            </a:extLst>
          </p:cNvPr>
          <p:cNvSpPr>
            <a:spLocks noGrp="1"/>
          </p:cNvSpPr>
          <p:nvPr>
            <p:ph type="dt" sz="half" idx="10"/>
          </p:nvPr>
        </p:nvSpPr>
        <p:spPr/>
        <p:txBody>
          <a:bodyPr/>
          <a:lstStyle/>
          <a:p>
            <a:pPr rtl="0"/>
            <a:fld id="{1E313F57-3095-42DA-A8AD-EACF93632B45}" type="datetime1">
              <a:rPr lang="fr-FR" noProof="0" smtClean="0"/>
              <a:t>22/01/2026</a:t>
            </a:fld>
            <a:endParaRPr lang="fr-FR" noProof="0" dirty="0"/>
          </a:p>
        </p:txBody>
      </p:sp>
      <p:sp>
        <p:nvSpPr>
          <p:cNvPr id="8" name="Espace réservé du pied de page 7">
            <a:extLst>
              <a:ext uri="{FF2B5EF4-FFF2-40B4-BE49-F238E27FC236}">
                <a16:creationId xmlns:a16="http://schemas.microsoft.com/office/drawing/2014/main" id="{10C2D171-4FEF-4D6D-3F59-5700BA9D7046}"/>
              </a:ext>
            </a:extLst>
          </p:cNvPr>
          <p:cNvSpPr>
            <a:spLocks noGrp="1"/>
          </p:cNvSpPr>
          <p:nvPr>
            <p:ph type="ftr" sz="quarter" idx="11"/>
          </p:nvPr>
        </p:nvSpPr>
        <p:spPr/>
        <p:txBody>
          <a:bodyPr/>
          <a:lstStyle/>
          <a:p>
            <a:pPr rtl="0"/>
            <a:endParaRPr lang="fr-FR" noProof="0" dirty="0"/>
          </a:p>
        </p:txBody>
      </p:sp>
      <p:sp>
        <p:nvSpPr>
          <p:cNvPr id="9" name="Espace réservé du numéro de diapositive 8">
            <a:extLst>
              <a:ext uri="{FF2B5EF4-FFF2-40B4-BE49-F238E27FC236}">
                <a16:creationId xmlns:a16="http://schemas.microsoft.com/office/drawing/2014/main" id="{336A6A72-818D-5D88-7762-18B318D48F72}"/>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3264834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9A87E4-56F9-078D-95CE-A57F6BC3D5F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CC7699C-C056-A62B-8E8B-BDEA84A5B728}"/>
              </a:ext>
            </a:extLst>
          </p:cNvPr>
          <p:cNvSpPr>
            <a:spLocks noGrp="1"/>
          </p:cNvSpPr>
          <p:nvPr>
            <p:ph type="dt" sz="half" idx="10"/>
          </p:nvPr>
        </p:nvSpPr>
        <p:spPr/>
        <p:txBody>
          <a:bodyPr/>
          <a:lstStyle/>
          <a:p>
            <a:pPr rtl="0"/>
            <a:fld id="{0F708A2A-6F02-48A2-99AD-832CF5AA71DA}" type="datetime1">
              <a:rPr lang="fr-FR" noProof="0" smtClean="0"/>
              <a:t>22/01/2026</a:t>
            </a:fld>
            <a:endParaRPr lang="fr-FR" noProof="0" dirty="0"/>
          </a:p>
        </p:txBody>
      </p:sp>
      <p:sp>
        <p:nvSpPr>
          <p:cNvPr id="4" name="Espace réservé du pied de page 3">
            <a:extLst>
              <a:ext uri="{FF2B5EF4-FFF2-40B4-BE49-F238E27FC236}">
                <a16:creationId xmlns:a16="http://schemas.microsoft.com/office/drawing/2014/main" id="{A9681DA9-4F50-9D69-32C2-7FA07E1AE99B}"/>
              </a:ext>
            </a:extLst>
          </p:cNvPr>
          <p:cNvSpPr>
            <a:spLocks noGrp="1"/>
          </p:cNvSpPr>
          <p:nvPr>
            <p:ph type="ftr" sz="quarter" idx="11"/>
          </p:nvPr>
        </p:nvSpPr>
        <p:spPr/>
        <p:txBody>
          <a:bodyPr/>
          <a:lstStyle/>
          <a:p>
            <a:pPr rtl="0"/>
            <a:endParaRPr lang="fr-FR" noProof="0" dirty="0"/>
          </a:p>
        </p:txBody>
      </p:sp>
      <p:sp>
        <p:nvSpPr>
          <p:cNvPr id="5" name="Espace réservé du numéro de diapositive 4">
            <a:extLst>
              <a:ext uri="{FF2B5EF4-FFF2-40B4-BE49-F238E27FC236}">
                <a16:creationId xmlns:a16="http://schemas.microsoft.com/office/drawing/2014/main" id="{7D070AF5-ADAA-0EB3-469C-BB5105566A28}"/>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3922315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079356D-E420-CC5D-72A7-6140342C5E27}"/>
              </a:ext>
            </a:extLst>
          </p:cNvPr>
          <p:cNvSpPr>
            <a:spLocks noGrp="1"/>
          </p:cNvSpPr>
          <p:nvPr>
            <p:ph type="dt" sz="half" idx="10"/>
          </p:nvPr>
        </p:nvSpPr>
        <p:spPr/>
        <p:txBody>
          <a:bodyPr/>
          <a:lstStyle/>
          <a:p>
            <a:pPr rtl="0"/>
            <a:fld id="{17C76EA5-DE82-4067-88F3-4BF0BABA598F}" type="datetime1">
              <a:rPr lang="fr-FR" noProof="0" smtClean="0"/>
              <a:t>22/01/2026</a:t>
            </a:fld>
            <a:endParaRPr lang="fr-FR" noProof="0" dirty="0"/>
          </a:p>
        </p:txBody>
      </p:sp>
      <p:sp>
        <p:nvSpPr>
          <p:cNvPr id="3" name="Espace réservé du pied de page 2">
            <a:extLst>
              <a:ext uri="{FF2B5EF4-FFF2-40B4-BE49-F238E27FC236}">
                <a16:creationId xmlns:a16="http://schemas.microsoft.com/office/drawing/2014/main" id="{63EB515B-7AAC-1A58-2E36-DDA14301162B}"/>
              </a:ext>
            </a:extLst>
          </p:cNvPr>
          <p:cNvSpPr>
            <a:spLocks noGrp="1"/>
          </p:cNvSpPr>
          <p:nvPr>
            <p:ph type="ftr" sz="quarter" idx="11"/>
          </p:nvPr>
        </p:nvSpPr>
        <p:spPr/>
        <p:txBody>
          <a:bodyPr/>
          <a:lstStyle/>
          <a:p>
            <a:pPr rtl="0"/>
            <a:endParaRPr lang="fr-FR" noProof="0" dirty="0"/>
          </a:p>
        </p:txBody>
      </p:sp>
      <p:sp>
        <p:nvSpPr>
          <p:cNvPr id="4" name="Espace réservé du numéro de diapositive 3">
            <a:extLst>
              <a:ext uri="{FF2B5EF4-FFF2-40B4-BE49-F238E27FC236}">
                <a16:creationId xmlns:a16="http://schemas.microsoft.com/office/drawing/2014/main" id="{8FEA4963-F75B-BCFB-8CE8-6D94C567A681}"/>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219744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3A58BF-0060-9154-E90B-EDD0CCFAA47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A7B4066-4348-6E4C-0D34-1D63A8FF60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37204C6-21E9-C323-2C45-423772C62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C9DAFE3-6116-A782-2363-EA799151BFED}"/>
              </a:ext>
            </a:extLst>
          </p:cNvPr>
          <p:cNvSpPr>
            <a:spLocks noGrp="1"/>
          </p:cNvSpPr>
          <p:nvPr>
            <p:ph type="dt" sz="half" idx="10"/>
          </p:nvPr>
        </p:nvSpPr>
        <p:spPr/>
        <p:txBody>
          <a:bodyPr/>
          <a:lstStyle/>
          <a:p>
            <a:pPr rtl="0"/>
            <a:fld id="{31C46C69-7F73-47D5-86D5-FDA507AE9AA8}" type="datetime1">
              <a:rPr lang="fr-FR" noProof="0" smtClean="0"/>
              <a:t>22/01/2026</a:t>
            </a:fld>
            <a:endParaRPr lang="fr-FR" noProof="0" dirty="0"/>
          </a:p>
        </p:txBody>
      </p:sp>
      <p:sp>
        <p:nvSpPr>
          <p:cNvPr id="6" name="Espace réservé du pied de page 5">
            <a:extLst>
              <a:ext uri="{FF2B5EF4-FFF2-40B4-BE49-F238E27FC236}">
                <a16:creationId xmlns:a16="http://schemas.microsoft.com/office/drawing/2014/main" id="{15A538E3-85D7-BEB8-4FDB-463D02BB8CD1}"/>
              </a:ext>
            </a:extLst>
          </p:cNvPr>
          <p:cNvSpPr>
            <a:spLocks noGrp="1"/>
          </p:cNvSpPr>
          <p:nvPr>
            <p:ph type="ftr" sz="quarter" idx="11"/>
          </p:nvPr>
        </p:nvSpPr>
        <p:spPr/>
        <p:txBody>
          <a:bodyPr/>
          <a:lstStyle/>
          <a:p>
            <a:pPr rtl="0"/>
            <a:endParaRPr lang="fr-FR" noProof="0" dirty="0"/>
          </a:p>
        </p:txBody>
      </p:sp>
      <p:sp>
        <p:nvSpPr>
          <p:cNvPr id="7" name="Espace réservé du numéro de diapositive 6">
            <a:extLst>
              <a:ext uri="{FF2B5EF4-FFF2-40B4-BE49-F238E27FC236}">
                <a16:creationId xmlns:a16="http://schemas.microsoft.com/office/drawing/2014/main" id="{CA8085E1-1141-2638-5976-11D01A656913}"/>
              </a:ext>
            </a:extLst>
          </p:cNvPr>
          <p:cNvSpPr>
            <a:spLocks noGrp="1"/>
          </p:cNvSpPr>
          <p:nvPr>
            <p:ph type="sldNum" sz="quarter" idx="12"/>
          </p:nvPr>
        </p:nvSpPr>
        <p:spPr/>
        <p:txBody>
          <a:bodyPr/>
          <a:lstStyle/>
          <a:p>
            <a:pPr rtl="0"/>
            <a:fld id="{3A98EE3D-8CD1-4C3F-BD1C-C98C9596463C}" type="slidenum">
              <a:rPr lang="fr-FR" noProof="0" smtClean="0"/>
              <a:pPr rtl="0"/>
              <a:t>‹N°›</a:t>
            </a:fld>
            <a:endParaRPr lang="fr-FR" noProof="0" dirty="0"/>
          </a:p>
        </p:txBody>
      </p:sp>
    </p:spTree>
    <p:extLst>
      <p:ext uri="{BB962C8B-B14F-4D97-AF65-F5344CB8AC3E}">
        <p14:creationId xmlns:p14="http://schemas.microsoft.com/office/powerpoint/2010/main" val="1830044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34A8E-D523-9081-AAD6-28D336EE475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FB1F756-85E7-FDE8-EAE5-5B6182DA8C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00FDFE0-02EF-D7C5-E9EC-B46B92C125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2353175-EEBF-18ED-7360-553E2F032E2B}"/>
              </a:ext>
            </a:extLst>
          </p:cNvPr>
          <p:cNvSpPr>
            <a:spLocks noGrp="1"/>
          </p:cNvSpPr>
          <p:nvPr>
            <p:ph type="dt" sz="half" idx="10"/>
          </p:nvPr>
        </p:nvSpPr>
        <p:spPr/>
        <p:txBody>
          <a:bodyPr/>
          <a:lstStyle/>
          <a:p>
            <a:pPr rtl="0"/>
            <a:fld id="{973E1055-39CE-418F-9B0E-741B5617658E}" type="datetime1">
              <a:rPr lang="fr-FR" noProof="0" smtClean="0"/>
              <a:t>22/01/2026</a:t>
            </a:fld>
            <a:endParaRPr lang="fr-FR" noProof="0" dirty="0"/>
          </a:p>
        </p:txBody>
      </p:sp>
      <p:sp>
        <p:nvSpPr>
          <p:cNvPr id="6" name="Espace réservé du pied de page 5">
            <a:extLst>
              <a:ext uri="{FF2B5EF4-FFF2-40B4-BE49-F238E27FC236}">
                <a16:creationId xmlns:a16="http://schemas.microsoft.com/office/drawing/2014/main" id="{4C610ECF-01CE-5DE1-8983-81FA970FF9D5}"/>
              </a:ext>
            </a:extLst>
          </p:cNvPr>
          <p:cNvSpPr>
            <a:spLocks noGrp="1"/>
          </p:cNvSpPr>
          <p:nvPr>
            <p:ph type="ftr" sz="quarter" idx="11"/>
          </p:nvPr>
        </p:nvSpPr>
        <p:spPr/>
        <p:txBody>
          <a:bodyPr/>
          <a:lstStyle/>
          <a:p>
            <a:pPr algn="l" rtl="0"/>
            <a:endParaRPr lang="fr-FR" noProof="0" dirty="0"/>
          </a:p>
        </p:txBody>
      </p:sp>
      <p:sp>
        <p:nvSpPr>
          <p:cNvPr id="7" name="Espace réservé du numéro de diapositive 6">
            <a:extLst>
              <a:ext uri="{FF2B5EF4-FFF2-40B4-BE49-F238E27FC236}">
                <a16:creationId xmlns:a16="http://schemas.microsoft.com/office/drawing/2014/main" id="{3EE558F0-8E97-81B4-6A36-597A6E09699B}"/>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3525021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BF6472-9D42-EEB4-BABA-E78BBB273E9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205CFE9-888E-2E12-B034-F88BE1D2EEE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4AA5BB-B2D1-D635-A328-7DA53948401E}"/>
              </a:ext>
            </a:extLst>
          </p:cNvPr>
          <p:cNvSpPr>
            <a:spLocks noGrp="1"/>
          </p:cNvSpPr>
          <p:nvPr>
            <p:ph type="dt" sz="half" idx="10"/>
          </p:nvPr>
        </p:nvSpPr>
        <p:spPr/>
        <p:txBody>
          <a:bodyPr/>
          <a:lstStyle/>
          <a:p>
            <a:pPr rtl="0"/>
            <a:fld id="{0F708A2A-6F02-48A2-99AD-832CF5AA71DA}" type="datetime1">
              <a:rPr lang="fr-FR" noProof="0" smtClean="0"/>
              <a:t>22/01/2026</a:t>
            </a:fld>
            <a:endParaRPr lang="fr-FR" noProof="0" dirty="0"/>
          </a:p>
        </p:txBody>
      </p:sp>
      <p:sp>
        <p:nvSpPr>
          <p:cNvPr id="5" name="Espace réservé du pied de page 4">
            <a:extLst>
              <a:ext uri="{FF2B5EF4-FFF2-40B4-BE49-F238E27FC236}">
                <a16:creationId xmlns:a16="http://schemas.microsoft.com/office/drawing/2014/main" id="{57937080-E109-1E3C-A545-CF82B8F7070A}"/>
              </a:ext>
            </a:extLst>
          </p:cNvPr>
          <p:cNvSpPr>
            <a:spLocks noGrp="1"/>
          </p:cNvSpPr>
          <p:nvPr>
            <p:ph type="ftr" sz="quarter" idx="11"/>
          </p:nvPr>
        </p:nvSpPr>
        <p:spPr/>
        <p:txBody>
          <a:bodyPr/>
          <a:lstStyle/>
          <a:p>
            <a:pPr rtl="0"/>
            <a:endParaRPr lang="fr-FR" noProof="0" dirty="0"/>
          </a:p>
        </p:txBody>
      </p:sp>
      <p:sp>
        <p:nvSpPr>
          <p:cNvPr id="6" name="Espace réservé du numéro de diapositive 5">
            <a:extLst>
              <a:ext uri="{FF2B5EF4-FFF2-40B4-BE49-F238E27FC236}">
                <a16:creationId xmlns:a16="http://schemas.microsoft.com/office/drawing/2014/main" id="{A24AB435-4465-4FBD-A28C-AC1EC7A616E7}"/>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397036891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8A8966-BDE4-A980-B6BC-366AE9B1523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07719AC-EB41-D94D-6E79-A7CB7A92488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BAC4CD4-A8F5-D96F-46B5-C7116473602C}"/>
              </a:ext>
            </a:extLst>
          </p:cNvPr>
          <p:cNvSpPr>
            <a:spLocks noGrp="1"/>
          </p:cNvSpPr>
          <p:nvPr>
            <p:ph type="dt" sz="half" idx="10"/>
          </p:nvPr>
        </p:nvSpPr>
        <p:spPr/>
        <p:txBody>
          <a:bodyPr/>
          <a:lstStyle/>
          <a:p>
            <a:pPr rtl="0"/>
            <a:fld id="{0F708A2A-6F02-48A2-99AD-832CF5AA71DA}" type="datetime1">
              <a:rPr lang="fr-FR" noProof="0" smtClean="0"/>
              <a:t>22/01/2026</a:t>
            </a:fld>
            <a:endParaRPr lang="fr-FR" noProof="0" dirty="0"/>
          </a:p>
        </p:txBody>
      </p:sp>
      <p:sp>
        <p:nvSpPr>
          <p:cNvPr id="5" name="Espace réservé du pied de page 4">
            <a:extLst>
              <a:ext uri="{FF2B5EF4-FFF2-40B4-BE49-F238E27FC236}">
                <a16:creationId xmlns:a16="http://schemas.microsoft.com/office/drawing/2014/main" id="{97BD6C4A-B912-AF16-9A0C-28945ADE5DDA}"/>
              </a:ext>
            </a:extLst>
          </p:cNvPr>
          <p:cNvSpPr>
            <a:spLocks noGrp="1"/>
          </p:cNvSpPr>
          <p:nvPr>
            <p:ph type="ftr" sz="quarter" idx="11"/>
          </p:nvPr>
        </p:nvSpPr>
        <p:spPr/>
        <p:txBody>
          <a:bodyPr/>
          <a:lstStyle/>
          <a:p>
            <a:pPr rtl="0"/>
            <a:endParaRPr lang="fr-FR" noProof="0" dirty="0"/>
          </a:p>
        </p:txBody>
      </p:sp>
      <p:sp>
        <p:nvSpPr>
          <p:cNvPr id="6" name="Espace réservé du numéro de diapositive 5">
            <a:extLst>
              <a:ext uri="{FF2B5EF4-FFF2-40B4-BE49-F238E27FC236}">
                <a16:creationId xmlns:a16="http://schemas.microsoft.com/office/drawing/2014/main" id="{6307E105-9278-5A06-F28E-BB8F49C84DFE}"/>
              </a:ext>
            </a:extLst>
          </p:cNvPr>
          <p:cNvSpPr>
            <a:spLocks noGrp="1"/>
          </p:cNvSpPr>
          <p:nvPr>
            <p:ph type="sldNum" sz="quarter" idx="12"/>
          </p:nvPr>
        </p:nvSpPr>
        <p:spPr/>
        <p:txBody>
          <a:body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242346307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2F763D4-DFDB-A847-9ECB-4F9EC616A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C0C43F0-E12D-7A4D-D596-73F21508A9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A59885F-08D5-7630-8516-84E3537C19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rtl="0"/>
            <a:fld id="{0F708A2A-6F02-48A2-99AD-832CF5AA71DA}" type="datetime1">
              <a:rPr lang="fr-FR" noProof="0" smtClean="0"/>
              <a:t>22/01/2026</a:t>
            </a:fld>
            <a:endParaRPr lang="fr-FR" noProof="0" dirty="0"/>
          </a:p>
        </p:txBody>
      </p:sp>
      <p:sp>
        <p:nvSpPr>
          <p:cNvPr id="5" name="Espace réservé du pied de page 4">
            <a:extLst>
              <a:ext uri="{FF2B5EF4-FFF2-40B4-BE49-F238E27FC236}">
                <a16:creationId xmlns:a16="http://schemas.microsoft.com/office/drawing/2014/main" id="{A0D2B55C-0664-F30E-4F4F-6F0D1D2EDF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rtl="0"/>
            <a:endParaRPr lang="fr-FR" noProof="0" dirty="0"/>
          </a:p>
        </p:txBody>
      </p:sp>
      <p:sp>
        <p:nvSpPr>
          <p:cNvPr id="6" name="Espace réservé du numéro de diapositive 5">
            <a:extLst>
              <a:ext uri="{FF2B5EF4-FFF2-40B4-BE49-F238E27FC236}">
                <a16:creationId xmlns:a16="http://schemas.microsoft.com/office/drawing/2014/main" id="{12E98204-854B-E8AA-931B-B7919B1237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rtl="0"/>
            <a:fld id="{3A98EE3D-8CD1-4C3F-BD1C-C98C9596463C}" type="slidenum">
              <a:rPr lang="fr-FR" noProof="0" smtClean="0"/>
              <a:t>‹N°›</a:t>
            </a:fld>
            <a:endParaRPr lang="fr-FR" noProof="0" dirty="0"/>
          </a:p>
        </p:txBody>
      </p:sp>
    </p:spTree>
    <p:extLst>
      <p:ext uri="{BB962C8B-B14F-4D97-AF65-F5344CB8AC3E}">
        <p14:creationId xmlns:p14="http://schemas.microsoft.com/office/powerpoint/2010/main" val="53310127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 Id="rId4" Type="http://schemas.openxmlformats.org/officeDocument/2006/relationships/image" Target="../media/image12.emf"/></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 name="Rectangle 110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a:extLst>
              <a:ext uri="{FF2B5EF4-FFF2-40B4-BE49-F238E27FC236}">
                <a16:creationId xmlns:a16="http://schemas.microsoft.com/office/drawing/2014/main" id="{B4C9A135-3944-44C9-5740-52E20583AB90}"/>
              </a:ext>
            </a:extLst>
          </p:cNvPr>
          <p:cNvPicPr>
            <a:picLocks noChangeAspect="1"/>
          </p:cNvPicPr>
          <p:nvPr/>
        </p:nvPicPr>
        <p:blipFill>
          <a:blip r:embed="rId3"/>
          <a:srcRect t="58" b="58"/>
          <a:stretch/>
        </p:blipFill>
        <p:spPr bwMode="auto">
          <a:xfrm>
            <a:off x="20" y="0"/>
            <a:ext cx="12191980" cy="686638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E784E94-2670-8A55-21AC-5DA07BF029AF}"/>
              </a:ext>
            </a:extLst>
          </p:cNvPr>
          <p:cNvSpPr/>
          <p:nvPr/>
        </p:nvSpPr>
        <p:spPr>
          <a:xfrm>
            <a:off x="186222" y="1535705"/>
            <a:ext cx="3088508" cy="6826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Times New Roman" panose="02020603050405020304" pitchFamily="18" charset="0"/>
                <a:cs typeface="Times New Roman" panose="02020603050405020304" pitchFamily="18" charset="0"/>
              </a:rPr>
              <a:t>CUDA-AWARE MPI |</a:t>
            </a:r>
          </a:p>
        </p:txBody>
      </p:sp>
      <p:sp>
        <p:nvSpPr>
          <p:cNvPr id="7" name="Rectangle 6">
            <a:extLst>
              <a:ext uri="{FF2B5EF4-FFF2-40B4-BE49-F238E27FC236}">
                <a16:creationId xmlns:a16="http://schemas.microsoft.com/office/drawing/2014/main" id="{BE5D397B-EB5D-EEB2-B0BE-050189B7459A}"/>
              </a:ext>
            </a:extLst>
          </p:cNvPr>
          <p:cNvSpPr/>
          <p:nvPr/>
        </p:nvSpPr>
        <p:spPr>
          <a:xfrm>
            <a:off x="-176316" y="2046880"/>
            <a:ext cx="5526259" cy="282942"/>
          </a:xfrm>
          <a:prstGeom prst="rect">
            <a:avLst/>
          </a:prstGeom>
          <a:no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fr-FR" sz="2000" b="1" dirty="0">
                <a:solidFill>
                  <a:schemeClr val="bg1"/>
                </a:solidFill>
                <a:latin typeface="Times New Roman" panose="02020603050405020304" pitchFamily="18" charset="0"/>
                <a:cs typeface="Times New Roman" panose="02020603050405020304" pitchFamily="18" charset="0"/>
              </a:rPr>
              <a:t>GPU – Direct Communication In MPI</a:t>
            </a:r>
          </a:p>
        </p:txBody>
      </p:sp>
      <p:sp>
        <p:nvSpPr>
          <p:cNvPr id="8" name="Rectangle 7">
            <a:extLst>
              <a:ext uri="{FF2B5EF4-FFF2-40B4-BE49-F238E27FC236}">
                <a16:creationId xmlns:a16="http://schemas.microsoft.com/office/drawing/2014/main" id="{630D71FC-D95B-2906-C2AA-2BA3BC2161B3}"/>
              </a:ext>
            </a:extLst>
          </p:cNvPr>
          <p:cNvSpPr/>
          <p:nvPr/>
        </p:nvSpPr>
        <p:spPr>
          <a:xfrm>
            <a:off x="-764796" y="2588065"/>
            <a:ext cx="4429387" cy="2829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latin typeface="Times New Roman" panose="02020603050405020304" pitchFamily="18" charset="0"/>
                <a:cs typeface="Times New Roman" panose="02020603050405020304" pitchFamily="18" charset="0"/>
              </a:rPr>
              <a:t>Kelch NGOUESSI</a:t>
            </a:r>
          </a:p>
        </p:txBody>
      </p:sp>
      <p:pic>
        <p:nvPicPr>
          <p:cNvPr id="11" name="Image 10">
            <a:extLst>
              <a:ext uri="{FF2B5EF4-FFF2-40B4-BE49-F238E27FC236}">
                <a16:creationId xmlns:a16="http://schemas.microsoft.com/office/drawing/2014/main" id="{DF0BF328-F148-9A3F-3573-4C72AE80959E}"/>
              </a:ext>
            </a:extLst>
          </p:cNvPr>
          <p:cNvPicPr>
            <a:picLocks noChangeAspect="1"/>
          </p:cNvPicPr>
          <p:nvPr/>
        </p:nvPicPr>
        <p:blipFill>
          <a:blip r:embed="rId4"/>
          <a:srcRect l="5895" t="28644" r="6133" b="29623"/>
          <a:stretch>
            <a:fillRect/>
          </a:stretch>
        </p:blipFill>
        <p:spPr>
          <a:xfrm>
            <a:off x="9706924" y="339375"/>
            <a:ext cx="1699186" cy="605029"/>
          </a:xfrm>
          <a:prstGeom prst="rect">
            <a:avLst/>
          </a:prstGeom>
        </p:spPr>
      </p:pic>
      <p:sp>
        <p:nvSpPr>
          <p:cNvPr id="12" name="Rectangle 11">
            <a:extLst>
              <a:ext uri="{FF2B5EF4-FFF2-40B4-BE49-F238E27FC236}">
                <a16:creationId xmlns:a16="http://schemas.microsoft.com/office/drawing/2014/main" id="{E6B75635-08EC-7749-9F66-8CF73C7A485E}"/>
              </a:ext>
            </a:extLst>
          </p:cNvPr>
          <p:cNvSpPr/>
          <p:nvPr/>
        </p:nvSpPr>
        <p:spPr>
          <a:xfrm>
            <a:off x="-907672" y="6352137"/>
            <a:ext cx="4429387" cy="2829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bg1"/>
                </a:solidFill>
                <a:latin typeface="Times New Roman" panose="02020603050405020304" pitchFamily="18" charset="0"/>
                <a:cs typeface="Times New Roman" panose="02020603050405020304" pitchFamily="18" charset="0"/>
              </a:rPr>
              <a:t>18/12/2025</a:t>
            </a:r>
          </a:p>
        </p:txBody>
      </p:sp>
    </p:spTree>
    <p:extLst>
      <p:ext uri="{BB962C8B-B14F-4D97-AF65-F5344CB8AC3E}">
        <p14:creationId xmlns:p14="http://schemas.microsoft.com/office/powerpoint/2010/main" val="1326646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5E85A4-7A46-E82D-613C-2B85DA9BD451}"/>
              </a:ext>
            </a:extLst>
          </p:cNvPr>
          <p:cNvSpPr>
            <a:spLocks noGrp="1"/>
          </p:cNvSpPr>
          <p:nvPr>
            <p:ph type="title"/>
          </p:nvPr>
        </p:nvSpPr>
        <p:spPr>
          <a:xfrm>
            <a:off x="838200" y="180567"/>
            <a:ext cx="10515600" cy="1325563"/>
          </a:xfrm>
        </p:spPr>
        <p:txBody>
          <a:bodyPr/>
          <a:lstStyle/>
          <a:p>
            <a:r>
              <a:rPr lang="fr-FR" b="1" dirty="0">
                <a:solidFill>
                  <a:srgbClr val="92D050"/>
                </a:solidFill>
                <a:latin typeface="Times New Roman" panose="02020603050405020304" pitchFamily="18" charset="0"/>
                <a:cs typeface="Times New Roman" panose="02020603050405020304" pitchFamily="18" charset="0"/>
              </a:rPr>
              <a:t>Sommaire</a:t>
            </a:r>
          </a:p>
        </p:txBody>
      </p:sp>
      <p:sp>
        <p:nvSpPr>
          <p:cNvPr id="3" name="Espace réservé du contenu 2">
            <a:extLst>
              <a:ext uri="{FF2B5EF4-FFF2-40B4-BE49-F238E27FC236}">
                <a16:creationId xmlns:a16="http://schemas.microsoft.com/office/drawing/2014/main" id="{87AD4ACA-D1E8-684C-69CD-EA1D7FAC6481}"/>
              </a:ext>
            </a:extLst>
          </p:cNvPr>
          <p:cNvSpPr>
            <a:spLocks noGrp="1"/>
          </p:cNvSpPr>
          <p:nvPr>
            <p:ph idx="1"/>
          </p:nvPr>
        </p:nvSpPr>
        <p:spPr>
          <a:xfrm>
            <a:off x="838200" y="1727200"/>
            <a:ext cx="10515600" cy="4596706"/>
          </a:xfrm>
        </p:spPr>
        <p:txBody>
          <a:bodyPr>
            <a:noAutofit/>
          </a:bodyPr>
          <a:lstStyle/>
          <a:p>
            <a:pPr>
              <a:buFont typeface="Wingdings" panose="05000000000000000000" pitchFamily="2" charset="2"/>
              <a:buChar char="§"/>
            </a:pPr>
            <a:r>
              <a:rPr lang="fr-FR" sz="1800" b="1" dirty="0">
                <a:latin typeface="Times New Roman" panose="02020603050405020304" pitchFamily="18" charset="0"/>
                <a:cs typeface="Times New Roman" panose="02020603050405020304" pitchFamily="18" charset="0"/>
              </a:rPr>
              <a:t> Introduction: </a:t>
            </a:r>
            <a:r>
              <a:rPr lang="fr-FR" sz="1800" b="1" dirty="0" err="1">
                <a:latin typeface="Times New Roman" panose="02020603050405020304" pitchFamily="18" charset="0"/>
                <a:cs typeface="Times New Roman" panose="02020603050405020304" pitchFamily="18" charset="0"/>
              </a:rPr>
              <a:t>Problem</a:t>
            </a:r>
            <a:r>
              <a:rPr lang="fr-FR" sz="1800" b="1" dirty="0">
                <a:latin typeface="Times New Roman" panose="02020603050405020304" pitchFamily="18" charset="0"/>
                <a:cs typeface="Times New Roman" panose="02020603050405020304" pitchFamily="18" charset="0"/>
              </a:rPr>
              <a:t> &amp; Motivation</a:t>
            </a:r>
            <a:endParaRPr lang="fr-FR" sz="18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Context: The Challenge of Distributed GPU Scaling</a:t>
            </a:r>
          </a:p>
          <a:p>
            <a:pPr lvl="1"/>
            <a:r>
              <a:rPr lang="en-US" sz="1400" dirty="0">
                <a:latin typeface="Times New Roman" panose="02020603050405020304" pitchFamily="18" charset="0"/>
                <a:cs typeface="Times New Roman" panose="02020603050405020304" pitchFamily="18" charset="0"/>
              </a:rPr>
              <a:t> Problem: The Cost of Host Staging</a:t>
            </a:r>
            <a:endParaRPr lang="fr-FR" sz="14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Part 1 : Finite Volume </a:t>
            </a:r>
          </a:p>
          <a:p>
            <a:pPr lvl="1"/>
            <a:r>
              <a:rPr lang="en-US" sz="1400" dirty="0">
                <a:latin typeface="Times New Roman" panose="02020603050405020304" pitchFamily="18" charset="0"/>
                <a:cs typeface="Times New Roman" panose="02020603050405020304" pitchFamily="18" charset="0"/>
              </a:rPr>
              <a:t>Mesh construction </a:t>
            </a:r>
          </a:p>
          <a:p>
            <a:pPr lvl="1"/>
            <a:r>
              <a:rPr lang="en-US" sz="1400" dirty="0">
                <a:latin typeface="Times New Roman" panose="02020603050405020304" pitchFamily="18" charset="0"/>
                <a:cs typeface="Times New Roman" panose="02020603050405020304" pitchFamily="18" charset="0"/>
              </a:rPr>
              <a:t>KEY DIAGRAM: The Optimized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RDMA Path</a:t>
            </a:r>
          </a:p>
          <a:p>
            <a:pPr lvl="1"/>
            <a:r>
              <a:rPr lang="en-US" sz="1400" dirty="0">
                <a:latin typeface="Times New Roman" panose="02020603050405020304" pitchFamily="18" charset="0"/>
                <a:cs typeface="Times New Roman" panose="02020603050405020304" pitchFamily="18" charset="0"/>
              </a:rPr>
              <a:t>Code Simplicity and Prerequisites</a:t>
            </a:r>
          </a:p>
          <a:p>
            <a:pPr>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Part 2 : Finite Element</a:t>
            </a:r>
            <a:endParaRPr lang="fr-FR" sz="18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Evaluation Protocol: Standard Benchmarks (OSU)</a:t>
            </a:r>
          </a:p>
          <a:p>
            <a:pPr lvl="1"/>
            <a:r>
              <a:rPr lang="en-US" sz="1400" dirty="0">
                <a:latin typeface="Times New Roman" panose="02020603050405020304" pitchFamily="18" charset="0"/>
                <a:cs typeface="Times New Roman" panose="02020603050405020304" pitchFamily="18" charset="0"/>
              </a:rPr>
              <a:t>Result 1: Latency Reduction (Startup Time)</a:t>
            </a:r>
          </a:p>
          <a:p>
            <a:pPr lvl="1"/>
            <a:r>
              <a:rPr lang="en-US" sz="1400" dirty="0">
                <a:latin typeface="Times New Roman" panose="02020603050405020304" pitchFamily="18" charset="0"/>
                <a:cs typeface="Times New Roman" panose="02020603050405020304" pitchFamily="18" charset="0"/>
              </a:rPr>
              <a:t>Result 2: Maximizing Bandwidth (Throughput)</a:t>
            </a:r>
            <a:endParaRPr lang="fr-FR"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fr-FR" sz="1800" b="1" dirty="0">
                <a:latin typeface="Times New Roman" panose="02020603050405020304" pitchFamily="18" charset="0"/>
                <a:cs typeface="Times New Roman" panose="02020603050405020304" pitchFamily="18" charset="0"/>
              </a:rPr>
              <a:t>Conclusion and Perspectives </a:t>
            </a:r>
          </a:p>
          <a:p>
            <a:pPr lvl="1"/>
            <a:r>
              <a:rPr lang="fr-FR"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Synthesis: Impact on Application Scaling (Overlap)</a:t>
            </a:r>
          </a:p>
          <a:p>
            <a:pPr lvl="1"/>
            <a:r>
              <a:rPr lang="en-US" sz="1400" dirty="0">
                <a:latin typeface="Times New Roman" panose="02020603050405020304" pitchFamily="18" charset="0"/>
                <a:cs typeface="Times New Roman" panose="02020603050405020304" pitchFamily="18" charset="0"/>
              </a:rPr>
              <a:t>Conclusion and References</a:t>
            </a:r>
            <a:endParaRPr lang="fr-FR" sz="1400" dirty="0">
              <a:latin typeface="Times New Roman" panose="02020603050405020304" pitchFamily="18" charset="0"/>
              <a:cs typeface="Times New Roman" panose="02020603050405020304" pitchFamily="18" charset="0"/>
            </a:endParaRPr>
          </a:p>
          <a:p>
            <a:pPr marL="0" indent="0">
              <a:buNone/>
            </a:pPr>
            <a:r>
              <a:rPr lang="fr-FR" sz="1800" b="1" dirty="0">
                <a:latin typeface="Times New Roman" panose="02020603050405020304" pitchFamily="18" charset="0"/>
                <a:cs typeface="Times New Roman" panose="02020603050405020304" pitchFamily="18" charset="0"/>
              </a:rPr>
              <a:t>       </a:t>
            </a:r>
          </a:p>
        </p:txBody>
      </p:sp>
      <p:sp>
        <p:nvSpPr>
          <p:cNvPr id="4" name="Organigramme : Procédé 3">
            <a:extLst>
              <a:ext uri="{FF2B5EF4-FFF2-40B4-BE49-F238E27FC236}">
                <a16:creationId xmlns:a16="http://schemas.microsoft.com/office/drawing/2014/main" id="{C3257001-411B-03F5-EBE9-B9D026C0AE25}"/>
              </a:ext>
            </a:extLst>
          </p:cNvPr>
          <p:cNvSpPr/>
          <p:nvPr/>
        </p:nvSpPr>
        <p:spPr>
          <a:xfrm flipV="1">
            <a:off x="985520" y="1362353"/>
            <a:ext cx="10512000" cy="3600"/>
          </a:xfrm>
          <a:prstGeom prst="flowChartProcess">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atin typeface="Times New Roman" panose="02020603050405020304" pitchFamily="18" charset="0"/>
              <a:cs typeface="Times New Roman" panose="02020603050405020304" pitchFamily="18" charset="0"/>
            </a:endParaRPr>
          </a:p>
        </p:txBody>
      </p:sp>
      <p:pic>
        <p:nvPicPr>
          <p:cNvPr id="13" name="Image 12">
            <a:extLst>
              <a:ext uri="{FF2B5EF4-FFF2-40B4-BE49-F238E27FC236}">
                <a16:creationId xmlns:a16="http://schemas.microsoft.com/office/drawing/2014/main" id="{AD7FB75B-C49F-CC01-5D83-BD4CDA55E2B5}"/>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2058" name="Picture 10" descr="Download NVIDIA Logo in SVG Vector or PNG File Format - Logo.wine">
            <a:extLst>
              <a:ext uri="{FF2B5EF4-FFF2-40B4-BE49-F238E27FC236}">
                <a16:creationId xmlns:a16="http://schemas.microsoft.com/office/drawing/2014/main" id="{AAEC522D-5D2F-EB34-ACB5-E14C729BD0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561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5A176-C516-2FF5-ABCB-386E28B20B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C2D5CAD-67C7-6097-4A05-D40AA1087A6C}"/>
              </a:ext>
            </a:extLst>
          </p:cNvPr>
          <p:cNvSpPr>
            <a:spLocks noGrp="1"/>
          </p:cNvSpPr>
          <p:nvPr>
            <p:ph type="title"/>
          </p:nvPr>
        </p:nvSpPr>
        <p:spPr>
          <a:xfrm>
            <a:off x="838200" y="451046"/>
            <a:ext cx="10515600" cy="682440"/>
          </a:xfrm>
        </p:spPr>
        <p:txBody>
          <a:bodyPr>
            <a:normAutofit fontScale="90000"/>
          </a:bodyPr>
          <a:lstStyle/>
          <a:p>
            <a:r>
              <a:rPr lang="fr-FR" sz="3200" b="1" dirty="0">
                <a:solidFill>
                  <a:srgbClr val="7CBF33"/>
                </a:solidFill>
                <a:latin typeface="Times New Roman" panose="02020603050405020304" pitchFamily="18" charset="0"/>
                <a:ea typeface="Tahoma" panose="020B0604030504040204" pitchFamily="34" charset="0"/>
                <a:cs typeface="Times New Roman" panose="02020603050405020304" pitchFamily="18" charset="0"/>
              </a:rPr>
              <a:t> Introduction: </a:t>
            </a:r>
            <a:r>
              <a:rPr lang="fr-FR" sz="3200" b="1" dirty="0" err="1">
                <a:solidFill>
                  <a:srgbClr val="7CBF33"/>
                </a:solidFill>
                <a:latin typeface="Times New Roman" panose="02020603050405020304" pitchFamily="18" charset="0"/>
                <a:ea typeface="Tahoma" panose="020B0604030504040204" pitchFamily="34" charset="0"/>
                <a:cs typeface="Times New Roman" panose="02020603050405020304" pitchFamily="18" charset="0"/>
              </a:rPr>
              <a:t>Problem</a:t>
            </a:r>
            <a:r>
              <a:rPr lang="fr-FR" sz="3200" b="1" dirty="0">
                <a:solidFill>
                  <a:srgbClr val="7CBF33"/>
                </a:solidFill>
                <a:latin typeface="Times New Roman" panose="02020603050405020304" pitchFamily="18" charset="0"/>
                <a:ea typeface="Tahoma" panose="020B0604030504040204" pitchFamily="34" charset="0"/>
                <a:cs typeface="Times New Roman" panose="02020603050405020304" pitchFamily="18" charset="0"/>
              </a:rPr>
              <a:t> &amp;</a:t>
            </a:r>
            <a:br>
              <a:rPr lang="fr-FR" sz="3200" b="1" dirty="0">
                <a:solidFill>
                  <a:srgbClr val="7CBF33"/>
                </a:solidFill>
                <a:latin typeface="Times New Roman" panose="02020603050405020304" pitchFamily="18" charset="0"/>
                <a:ea typeface="Tahoma" panose="020B0604030504040204" pitchFamily="34" charset="0"/>
                <a:cs typeface="Times New Roman" panose="02020603050405020304" pitchFamily="18" charset="0"/>
              </a:rPr>
            </a:br>
            <a:r>
              <a:rPr lang="fr-FR" sz="3200" b="1" dirty="0">
                <a:solidFill>
                  <a:srgbClr val="7CBF33"/>
                </a:solidFill>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7" name="Image 6">
            <a:extLst>
              <a:ext uri="{FF2B5EF4-FFF2-40B4-BE49-F238E27FC236}">
                <a16:creationId xmlns:a16="http://schemas.microsoft.com/office/drawing/2014/main" id="{EF98E607-60EC-12A8-8345-38CEA015CEEC}"/>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sp>
        <p:nvSpPr>
          <p:cNvPr id="6" name="ZoneTexte 5">
            <a:extLst>
              <a:ext uri="{FF2B5EF4-FFF2-40B4-BE49-F238E27FC236}">
                <a16:creationId xmlns:a16="http://schemas.microsoft.com/office/drawing/2014/main" id="{59BB679A-6DB3-9732-C067-0EC9E9CC9C8B}"/>
              </a:ext>
            </a:extLst>
          </p:cNvPr>
          <p:cNvSpPr txBox="1"/>
          <p:nvPr/>
        </p:nvSpPr>
        <p:spPr>
          <a:xfrm>
            <a:off x="942592" y="1392572"/>
            <a:ext cx="8095376" cy="376756"/>
          </a:xfrm>
          <a:prstGeom prst="rect">
            <a:avLst/>
          </a:prstGeom>
          <a:noFill/>
        </p:spPr>
        <p:txBody>
          <a:bodyPr wrap="square" rtlCol="0">
            <a:spAutoFit/>
          </a:bodyPr>
          <a:lstStyle/>
          <a:p>
            <a:pPr marL="285750" indent="-285750">
              <a:buFont typeface="Wingdings" panose="05000000000000000000" pitchFamily="2" charset="2"/>
              <a:buChar char="Ø"/>
            </a:pPr>
            <a:r>
              <a:rPr lang="fr-FR" dirty="0">
                <a:latin typeface="Times New Roman" panose="02020603050405020304" pitchFamily="18" charset="0"/>
                <a:ea typeface="Tahoma" panose="020B0604030504040204" pitchFamily="34" charset="0"/>
                <a:cs typeface="Times New Roman" panose="02020603050405020304" pitchFamily="18" charset="0"/>
              </a:rPr>
              <a:t>The </a:t>
            </a:r>
            <a:r>
              <a:rPr lang="fr-FR" dirty="0" err="1">
                <a:latin typeface="Times New Roman" panose="02020603050405020304" pitchFamily="18" charset="0"/>
                <a:ea typeface="Tahoma" panose="020B0604030504040204" pitchFamily="34" charset="0"/>
                <a:cs typeface="Times New Roman" panose="02020603050405020304" pitchFamily="18" charset="0"/>
              </a:rPr>
              <a:t>Problem</a:t>
            </a:r>
            <a:r>
              <a:rPr lang="fr-FR" dirty="0">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15" name="Image 14">
            <a:extLst>
              <a:ext uri="{FF2B5EF4-FFF2-40B4-BE49-F238E27FC236}">
                <a16:creationId xmlns:a16="http://schemas.microsoft.com/office/drawing/2014/main" id="{0F228FCA-85C2-471F-5BD2-C59EBF9ADACB}"/>
              </a:ext>
            </a:extLst>
          </p:cNvPr>
          <p:cNvPicPr>
            <a:picLocks noChangeAspect="1"/>
          </p:cNvPicPr>
          <p:nvPr/>
        </p:nvPicPr>
        <p:blipFill>
          <a:blip r:embed="rId3"/>
          <a:stretch>
            <a:fillRect/>
          </a:stretch>
        </p:blipFill>
        <p:spPr>
          <a:xfrm>
            <a:off x="2980600" y="1837887"/>
            <a:ext cx="4791744" cy="381053"/>
          </a:xfrm>
          <a:prstGeom prst="rect">
            <a:avLst/>
          </a:prstGeom>
        </p:spPr>
      </p:pic>
    </p:spTree>
    <p:extLst>
      <p:ext uri="{BB962C8B-B14F-4D97-AF65-F5344CB8AC3E}">
        <p14:creationId xmlns:p14="http://schemas.microsoft.com/office/powerpoint/2010/main" val="4133234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D3581-41BA-D796-4F0D-A18BF8CE855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52C242-EED2-FDA3-30E9-449B036BF9B4}"/>
              </a:ext>
            </a:extLst>
          </p:cNvPr>
          <p:cNvSpPr>
            <a:spLocks noGrp="1"/>
          </p:cNvSpPr>
          <p:nvPr>
            <p:ph type="title"/>
          </p:nvPr>
        </p:nvSpPr>
        <p:spPr>
          <a:xfrm>
            <a:off x="838200" y="395537"/>
            <a:ext cx="10515600" cy="682440"/>
          </a:xfrm>
        </p:spPr>
        <p:txBody>
          <a:bodyPr>
            <a:normAutofit/>
          </a:bodyPr>
          <a:lstStyle/>
          <a:p>
            <a:r>
              <a:rPr lang="fr-FR" sz="3200" dirty="0" err="1">
                <a:solidFill>
                  <a:srgbClr val="7CBF33"/>
                </a:solidFill>
              </a:rPr>
              <a:t>Mesh</a:t>
            </a:r>
            <a:r>
              <a:rPr lang="fr-FR" sz="3200" dirty="0">
                <a:solidFill>
                  <a:srgbClr val="7CBF33"/>
                </a:solidFill>
              </a:rPr>
              <a:t> </a:t>
            </a:r>
            <a:r>
              <a:rPr lang="fr-FR" sz="3200" dirty="0" err="1">
                <a:solidFill>
                  <a:srgbClr val="7CBF33"/>
                </a:solidFill>
              </a:rPr>
              <a:t>structur</a:t>
            </a:r>
            <a:endParaRPr lang="fr-FR" sz="3200" dirty="0">
              <a:solidFill>
                <a:srgbClr val="7CBF33"/>
              </a:solidFill>
            </a:endParaRPr>
          </a:p>
        </p:txBody>
      </p:sp>
      <p:pic>
        <p:nvPicPr>
          <p:cNvPr id="7" name="Image 6">
            <a:extLst>
              <a:ext uri="{FF2B5EF4-FFF2-40B4-BE49-F238E27FC236}">
                <a16:creationId xmlns:a16="http://schemas.microsoft.com/office/drawing/2014/main" id="{4CA9624B-8A39-6361-7EA8-65D568B1688B}"/>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53DEA0DB-A78B-8B10-27BC-9CAB7B7B5C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921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FA1A3-69F4-FBE3-2244-856A88CE62F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A590B31-D1C4-AECC-EBD2-247902DADCBB}"/>
              </a:ext>
            </a:extLst>
          </p:cNvPr>
          <p:cNvSpPr>
            <a:spLocks noGrp="1"/>
          </p:cNvSpPr>
          <p:nvPr>
            <p:ph type="title"/>
          </p:nvPr>
        </p:nvSpPr>
        <p:spPr>
          <a:xfrm>
            <a:off x="838200" y="395537"/>
            <a:ext cx="10515600" cy="682440"/>
          </a:xfrm>
        </p:spPr>
        <p:txBody>
          <a:bodyPr>
            <a:normAutofit/>
          </a:bodyPr>
          <a:lstStyle/>
          <a:p>
            <a:r>
              <a:rPr lang="fr-FR" sz="3200" b="1" dirty="0">
                <a:solidFill>
                  <a:srgbClr val="7CBF33"/>
                </a:solidFill>
                <a:latin typeface="Times New Roman" panose="02020603050405020304" pitchFamily="18" charset="0"/>
                <a:cs typeface="Times New Roman" panose="02020603050405020304" pitchFamily="18" charset="0"/>
              </a:rPr>
              <a:t>Part 1 : </a:t>
            </a:r>
            <a:r>
              <a:rPr lang="fr-FR" sz="3200" b="1" dirty="0" err="1">
                <a:solidFill>
                  <a:srgbClr val="7CBF33"/>
                </a:solidFill>
                <a:latin typeface="Times New Roman" panose="02020603050405020304" pitchFamily="18" charset="0"/>
                <a:cs typeface="Times New Roman" panose="02020603050405020304" pitchFamily="18" charset="0"/>
              </a:rPr>
              <a:t>Finite</a:t>
            </a:r>
            <a:r>
              <a:rPr lang="fr-FR" sz="3200" b="1" dirty="0">
                <a:solidFill>
                  <a:srgbClr val="7CBF33"/>
                </a:solidFill>
                <a:latin typeface="Times New Roman" panose="02020603050405020304" pitchFamily="18" charset="0"/>
                <a:cs typeface="Times New Roman" panose="02020603050405020304" pitchFamily="18" charset="0"/>
              </a:rPr>
              <a:t> Volume Approximation</a:t>
            </a:r>
            <a:endParaRPr lang="fr-FR" sz="3200" b="1" dirty="0">
              <a:solidFill>
                <a:srgbClr val="7CBF33"/>
              </a:solidFill>
            </a:endParaRPr>
          </a:p>
        </p:txBody>
      </p:sp>
      <p:pic>
        <p:nvPicPr>
          <p:cNvPr id="7" name="Image 6">
            <a:extLst>
              <a:ext uri="{FF2B5EF4-FFF2-40B4-BE49-F238E27FC236}">
                <a16:creationId xmlns:a16="http://schemas.microsoft.com/office/drawing/2014/main" id="{18A751C0-7F24-8A3E-D1B8-299CBBA05FF3}"/>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ED7AA078-8241-01A9-EB44-2482BDEF17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42132FB9-2336-4973-FE81-7751982BAB2D}"/>
              </a:ext>
            </a:extLst>
          </p:cNvPr>
          <p:cNvSpPr txBox="1"/>
          <p:nvPr/>
        </p:nvSpPr>
        <p:spPr>
          <a:xfrm>
            <a:off x="1068897" y="1077977"/>
            <a:ext cx="10284903" cy="1754326"/>
          </a:xfrm>
          <a:prstGeom prst="rect">
            <a:avLst/>
          </a:prstGeom>
          <a:noFill/>
        </p:spPr>
        <p:txBody>
          <a:bodyPr wrap="square" rtlCol="0">
            <a:spAutoFit/>
          </a:bodyPr>
          <a:lstStyle/>
          <a:p>
            <a:endParaRPr lang="fr-FR" dirty="0"/>
          </a:p>
          <a:p>
            <a:endParaRPr lang="fr-FR" dirty="0"/>
          </a:p>
          <a:p>
            <a:endParaRPr lang="fr-FR" dirty="0"/>
          </a:p>
          <a:p>
            <a:pPr marL="285750" indent="-285750">
              <a:buFont typeface="Wingdings" panose="05000000000000000000" pitchFamily="2" charset="2"/>
              <a:buChar char="Ø"/>
            </a:pPr>
            <a:endParaRPr lang="fr-FR" dirty="0"/>
          </a:p>
          <a:p>
            <a:endParaRPr lang="fr-FR" dirty="0"/>
          </a:p>
          <a:p>
            <a:endParaRPr lang="fr-FR" dirty="0"/>
          </a:p>
        </p:txBody>
      </p:sp>
    </p:spTree>
    <p:extLst>
      <p:ext uri="{BB962C8B-B14F-4D97-AF65-F5344CB8AC3E}">
        <p14:creationId xmlns:p14="http://schemas.microsoft.com/office/powerpoint/2010/main" val="194964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AB688-B3D7-202C-6B06-8ECC2306BF6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1F14A4-F0A3-602B-4224-3BD6B26ED3E0}"/>
              </a:ext>
            </a:extLst>
          </p:cNvPr>
          <p:cNvSpPr>
            <a:spLocks noGrp="1"/>
          </p:cNvSpPr>
          <p:nvPr>
            <p:ph type="title"/>
          </p:nvPr>
        </p:nvSpPr>
        <p:spPr>
          <a:xfrm>
            <a:off x="838200" y="365126"/>
            <a:ext cx="10515600" cy="682440"/>
          </a:xfrm>
        </p:spPr>
        <p:txBody>
          <a:bodyPr>
            <a:normAutofit fontScale="90000"/>
          </a:bodyPr>
          <a:lstStyle/>
          <a:p>
            <a:r>
              <a:rPr lang="en-US" sz="3200" b="1" dirty="0">
                <a:solidFill>
                  <a:srgbClr val="7CBF33"/>
                </a:solidFill>
                <a:latin typeface="Times New Roman" panose="02020603050405020304" pitchFamily="18" charset="0"/>
                <a:cs typeface="Times New Roman" panose="02020603050405020304" pitchFamily="18" charset="0"/>
              </a:rPr>
              <a:t>The Core Mechanism: </a:t>
            </a:r>
            <a:r>
              <a:rPr lang="en-US" sz="3200" b="1" dirty="0" err="1">
                <a:solidFill>
                  <a:srgbClr val="7CBF33"/>
                </a:solidFill>
                <a:latin typeface="Times New Roman" panose="02020603050405020304" pitchFamily="18" charset="0"/>
                <a:cs typeface="Times New Roman" panose="02020603050405020304" pitchFamily="18" charset="0"/>
              </a:rPr>
              <a:t>GPUDirect</a:t>
            </a:r>
            <a:r>
              <a:rPr lang="en-US" sz="3200" b="1" dirty="0">
                <a:solidFill>
                  <a:srgbClr val="7CBF33"/>
                </a:solidFill>
                <a:latin typeface="Times New Roman" panose="02020603050405020304" pitchFamily="18" charset="0"/>
                <a:cs typeface="Times New Roman" panose="02020603050405020304" pitchFamily="18" charset="0"/>
              </a:rPr>
              <a:t> RDMA </a:t>
            </a:r>
            <a:br>
              <a:rPr lang="fr-FR" sz="3200" b="1" dirty="0">
                <a:solidFill>
                  <a:srgbClr val="7CBF33"/>
                </a:solidFill>
                <a:latin typeface="Times New Roman" panose="02020603050405020304" pitchFamily="18" charset="0"/>
                <a:cs typeface="Times New Roman" panose="02020603050405020304" pitchFamily="18" charset="0"/>
              </a:rPr>
            </a:br>
            <a:r>
              <a:rPr lang="fr-FR" sz="3200" b="1" dirty="0">
                <a:solidFill>
                  <a:srgbClr val="7CBF33"/>
                </a:solidFill>
              </a:rPr>
              <a:t> </a:t>
            </a:r>
          </a:p>
        </p:txBody>
      </p:sp>
      <p:sp>
        <p:nvSpPr>
          <p:cNvPr id="8" name="ZoneTexte 7">
            <a:extLst>
              <a:ext uri="{FF2B5EF4-FFF2-40B4-BE49-F238E27FC236}">
                <a16:creationId xmlns:a16="http://schemas.microsoft.com/office/drawing/2014/main" id="{1DA9724C-6E9B-785E-4482-7C3C7C6C4BAD}"/>
              </a:ext>
            </a:extLst>
          </p:cNvPr>
          <p:cNvSpPr txBox="1"/>
          <p:nvPr/>
        </p:nvSpPr>
        <p:spPr>
          <a:xfrm>
            <a:off x="838200" y="796896"/>
            <a:ext cx="10958465" cy="6432530"/>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Solution: CUDA-aware MPI and </a:t>
            </a:r>
            <a:r>
              <a:rPr lang="en-US" dirty="0" err="1">
                <a:latin typeface="Times New Roman" panose="02020603050405020304" pitchFamily="18" charset="0"/>
                <a:cs typeface="Times New Roman" panose="02020603050405020304" pitchFamily="18" charset="0"/>
              </a:rPr>
              <a:t>GPUDirect</a:t>
            </a:r>
            <a:endParaRPr lang="en-US"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742950" lvl="1" indent="-285750">
              <a:buClr>
                <a:srgbClr val="7CBF33"/>
              </a:buClr>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What is CUDA-Aware MPI?</a:t>
            </a:r>
          </a:p>
          <a:p>
            <a:pPr lvl="1"/>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                 CUDA-aware MPI allows MPI functions to </a:t>
            </a:r>
            <a:r>
              <a:rPr lang="en-US" sz="1400" b="1" dirty="0">
                <a:latin typeface="Times New Roman" panose="02020603050405020304" pitchFamily="18" charset="0"/>
                <a:cs typeface="Times New Roman" panose="02020603050405020304" pitchFamily="18" charset="0"/>
              </a:rPr>
              <a:t>directly accept GPU memory pointers</a:t>
            </a: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MPI becomes aware of GPU memory</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fr-FR" b="1" dirty="0">
              <a:solidFill>
                <a:schemeClr val="accent3"/>
              </a:solidFill>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B9602203-156D-5DB7-E254-C21D0B1A3037}"/>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A06B9691-464A-02F0-0D09-30B7324A8B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descr="Une image contenant texte, Police, capture d’écran&#10;&#10;Le contenu généré par l’IA peut être incorrect.">
            <a:extLst>
              <a:ext uri="{FF2B5EF4-FFF2-40B4-BE49-F238E27FC236}">
                <a16:creationId xmlns:a16="http://schemas.microsoft.com/office/drawing/2014/main" id="{6662369D-76D9-8EE7-755A-506DFF309C5A}"/>
              </a:ext>
            </a:extLst>
          </p:cNvPr>
          <p:cNvPicPr>
            <a:picLocks noChangeAspect="1"/>
          </p:cNvPicPr>
          <p:nvPr/>
        </p:nvPicPr>
        <p:blipFill>
          <a:blip r:embed="rId4"/>
          <a:srcRect r="20691"/>
          <a:stretch>
            <a:fillRect/>
          </a:stretch>
        </p:blipFill>
        <p:spPr>
          <a:xfrm>
            <a:off x="6734068" y="2509456"/>
            <a:ext cx="4973683" cy="1474049"/>
          </a:xfrm>
          <a:prstGeom prst="rect">
            <a:avLst/>
          </a:prstGeom>
        </p:spPr>
      </p:pic>
      <p:pic>
        <p:nvPicPr>
          <p:cNvPr id="11" name="Image 10" descr="Une image contenant texte, capture d’écran, conception&#10;&#10;Le contenu généré par l’IA peut être incorrect.">
            <a:extLst>
              <a:ext uri="{FF2B5EF4-FFF2-40B4-BE49-F238E27FC236}">
                <a16:creationId xmlns:a16="http://schemas.microsoft.com/office/drawing/2014/main" id="{2FCD6BFC-1FF6-E5F4-40AC-86C8AEE53A49}"/>
              </a:ext>
            </a:extLst>
          </p:cNvPr>
          <p:cNvPicPr>
            <a:picLocks noChangeAspect="1"/>
          </p:cNvPicPr>
          <p:nvPr/>
        </p:nvPicPr>
        <p:blipFill>
          <a:blip r:embed="rId5"/>
          <a:stretch>
            <a:fillRect/>
          </a:stretch>
        </p:blipFill>
        <p:spPr>
          <a:xfrm>
            <a:off x="1981686" y="2444303"/>
            <a:ext cx="3563432" cy="1474049"/>
          </a:xfrm>
          <a:prstGeom prst="rect">
            <a:avLst/>
          </a:prstGeom>
        </p:spPr>
      </p:pic>
      <p:sp>
        <p:nvSpPr>
          <p:cNvPr id="3" name="Rectangle : coins arrondis 2">
            <a:extLst>
              <a:ext uri="{FF2B5EF4-FFF2-40B4-BE49-F238E27FC236}">
                <a16:creationId xmlns:a16="http://schemas.microsoft.com/office/drawing/2014/main" id="{56458F6E-54B3-6574-2066-FD1E10B6E8FF}"/>
              </a:ext>
            </a:extLst>
          </p:cNvPr>
          <p:cNvSpPr/>
          <p:nvPr/>
        </p:nvSpPr>
        <p:spPr>
          <a:xfrm>
            <a:off x="6738458" y="4875100"/>
            <a:ext cx="4969293" cy="87997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1100" dirty="0">
                <a:solidFill>
                  <a:schemeClr val="accent6"/>
                </a:solidFill>
              </a:rPr>
              <a:t>//MPI </a:t>
            </a:r>
            <a:r>
              <a:rPr lang="fr-FR" sz="1100" dirty="0" err="1">
                <a:solidFill>
                  <a:schemeClr val="accent6"/>
                </a:solidFill>
              </a:rPr>
              <a:t>rank</a:t>
            </a:r>
            <a:r>
              <a:rPr lang="fr-FR" sz="1100" dirty="0">
                <a:solidFill>
                  <a:schemeClr val="accent6"/>
                </a:solidFill>
              </a:rPr>
              <a:t> 0</a:t>
            </a:r>
          </a:p>
          <a:p>
            <a:r>
              <a:rPr lang="fr-FR" sz="1100" dirty="0" err="1"/>
              <a:t>MPI_Send</a:t>
            </a:r>
            <a:r>
              <a:rPr lang="fr-FR" sz="1100" dirty="0"/>
              <a:t>(</a:t>
            </a:r>
            <a:r>
              <a:rPr lang="fr-FR" sz="1100" b="1" dirty="0" err="1">
                <a:solidFill>
                  <a:srgbClr val="296A6F"/>
                </a:solidFill>
              </a:rPr>
              <a:t>s_buf_d</a:t>
            </a:r>
            <a:r>
              <a:rPr lang="fr-FR" sz="1100" dirty="0"/>
              <a:t>, size, MPI_CHAR, </a:t>
            </a:r>
            <a:r>
              <a:rPr lang="fr-FR" sz="1100" dirty="0" err="1"/>
              <a:t>dest</a:t>
            </a:r>
            <a:r>
              <a:rPr lang="fr-FR" sz="1100" dirty="0"/>
              <a:t>, tag, MPI_COMM_WORLD);</a:t>
            </a:r>
          </a:p>
          <a:p>
            <a:endParaRPr lang="fr-FR" sz="1100" dirty="0"/>
          </a:p>
          <a:p>
            <a:r>
              <a:rPr lang="fr-FR" sz="1100" dirty="0">
                <a:solidFill>
                  <a:schemeClr val="accent6"/>
                </a:solidFill>
              </a:rPr>
              <a:t>//MPI </a:t>
            </a:r>
            <a:r>
              <a:rPr lang="fr-FR" sz="1100" dirty="0" err="1">
                <a:solidFill>
                  <a:schemeClr val="accent6"/>
                </a:solidFill>
              </a:rPr>
              <a:t>rank</a:t>
            </a:r>
            <a:r>
              <a:rPr lang="fr-FR" sz="1100" dirty="0">
                <a:solidFill>
                  <a:schemeClr val="accent6"/>
                </a:solidFill>
              </a:rPr>
              <a:t> 1</a:t>
            </a:r>
          </a:p>
          <a:p>
            <a:r>
              <a:rPr lang="fr-FR" sz="1100" dirty="0"/>
              <a:t> </a:t>
            </a:r>
            <a:r>
              <a:rPr lang="fr-FR" sz="1100" dirty="0" err="1"/>
              <a:t>MPI_Recv</a:t>
            </a:r>
            <a:r>
              <a:rPr lang="fr-FR" sz="1100" dirty="0"/>
              <a:t>(</a:t>
            </a:r>
            <a:r>
              <a:rPr lang="fr-FR" sz="1100" b="1" dirty="0" err="1">
                <a:solidFill>
                  <a:srgbClr val="296A6F"/>
                </a:solidFill>
              </a:rPr>
              <a:t>r_buf_d</a:t>
            </a:r>
            <a:r>
              <a:rPr lang="fr-FR" sz="1100" dirty="0"/>
              <a:t>, size, MPI_CHAR, src, tag, MPI_COMM_WORLD, &amp;</a:t>
            </a:r>
            <a:r>
              <a:rPr lang="fr-FR" sz="1100" dirty="0" err="1"/>
              <a:t>status</a:t>
            </a:r>
            <a:r>
              <a:rPr lang="fr-FR" sz="1100" dirty="0"/>
              <a:t>);</a:t>
            </a:r>
          </a:p>
        </p:txBody>
      </p:sp>
      <p:sp>
        <p:nvSpPr>
          <p:cNvPr id="10" name="Flèche : bas 9">
            <a:extLst>
              <a:ext uri="{FF2B5EF4-FFF2-40B4-BE49-F238E27FC236}">
                <a16:creationId xmlns:a16="http://schemas.microsoft.com/office/drawing/2014/main" id="{BF92901C-3224-D47E-673D-F9FE60EA08AB}"/>
              </a:ext>
            </a:extLst>
          </p:cNvPr>
          <p:cNvSpPr/>
          <p:nvPr/>
        </p:nvSpPr>
        <p:spPr>
          <a:xfrm>
            <a:off x="9273540" y="4064098"/>
            <a:ext cx="256353" cy="730409"/>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fr-FR"/>
          </a:p>
        </p:txBody>
      </p:sp>
      <p:sp>
        <p:nvSpPr>
          <p:cNvPr id="12" name="Flèche : droite 11">
            <a:extLst>
              <a:ext uri="{FF2B5EF4-FFF2-40B4-BE49-F238E27FC236}">
                <a16:creationId xmlns:a16="http://schemas.microsoft.com/office/drawing/2014/main" id="{9EE82550-4A43-1D60-3900-4DA1F8451105}"/>
              </a:ext>
            </a:extLst>
          </p:cNvPr>
          <p:cNvSpPr/>
          <p:nvPr/>
        </p:nvSpPr>
        <p:spPr>
          <a:xfrm>
            <a:off x="1454700" y="2106051"/>
            <a:ext cx="526986" cy="117695"/>
          </a:xfrm>
          <a:prstGeom prst="rightArrow">
            <a:avLst/>
          </a:prstGeom>
          <a:solidFill>
            <a:srgbClr val="7CB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3" name="Flèche : droite 12">
            <a:extLst>
              <a:ext uri="{FF2B5EF4-FFF2-40B4-BE49-F238E27FC236}">
                <a16:creationId xmlns:a16="http://schemas.microsoft.com/office/drawing/2014/main" id="{214D745B-DC00-0F0E-8FF8-5AF50273CCF8}"/>
              </a:ext>
            </a:extLst>
          </p:cNvPr>
          <p:cNvSpPr/>
          <p:nvPr/>
        </p:nvSpPr>
        <p:spPr>
          <a:xfrm rot="10800000">
            <a:off x="5790446" y="5315089"/>
            <a:ext cx="526986" cy="117695"/>
          </a:xfrm>
          <a:prstGeom prst="rightArrow">
            <a:avLst/>
          </a:prstGeom>
          <a:solidFill>
            <a:srgbClr val="7CB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2850749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6FB22-75B9-A26F-B8BD-20C1FCEDBA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D47933-5B77-AF83-93E2-6997F489BBEB}"/>
              </a:ext>
            </a:extLst>
          </p:cNvPr>
          <p:cNvSpPr>
            <a:spLocks noGrp="1"/>
          </p:cNvSpPr>
          <p:nvPr>
            <p:ph type="title"/>
          </p:nvPr>
        </p:nvSpPr>
        <p:spPr>
          <a:xfrm>
            <a:off x="838200" y="354966"/>
            <a:ext cx="10515600" cy="682440"/>
          </a:xfrm>
        </p:spPr>
        <p:txBody>
          <a:bodyPr>
            <a:normAutofit fontScale="90000"/>
          </a:bodyPr>
          <a:lstStyle/>
          <a:p>
            <a:r>
              <a:rPr lang="en-US" sz="3200" b="1" dirty="0">
                <a:solidFill>
                  <a:srgbClr val="7CBF33"/>
                </a:solidFill>
                <a:latin typeface="Times New Roman" panose="02020603050405020304" pitchFamily="18" charset="0"/>
                <a:cs typeface="Times New Roman" panose="02020603050405020304" pitchFamily="18" charset="0"/>
              </a:rPr>
              <a:t>The Core Mechanism: </a:t>
            </a:r>
            <a:r>
              <a:rPr lang="en-US" sz="3200" b="1" dirty="0" err="1">
                <a:solidFill>
                  <a:srgbClr val="7CBF33"/>
                </a:solidFill>
                <a:latin typeface="Times New Roman" panose="02020603050405020304" pitchFamily="18" charset="0"/>
                <a:cs typeface="Times New Roman" panose="02020603050405020304" pitchFamily="18" charset="0"/>
              </a:rPr>
              <a:t>GPUDirect</a:t>
            </a:r>
            <a:r>
              <a:rPr lang="en-US" sz="3200" b="1" dirty="0">
                <a:solidFill>
                  <a:srgbClr val="7CBF33"/>
                </a:solidFill>
                <a:latin typeface="Times New Roman" panose="02020603050405020304" pitchFamily="18" charset="0"/>
                <a:cs typeface="Times New Roman" panose="02020603050405020304" pitchFamily="18" charset="0"/>
              </a:rPr>
              <a:t> RDMA </a:t>
            </a:r>
            <a:br>
              <a:rPr lang="fr-FR" sz="3200" b="1" dirty="0">
                <a:solidFill>
                  <a:srgbClr val="7CBF33"/>
                </a:solidFill>
                <a:latin typeface="Times New Roman" panose="02020603050405020304" pitchFamily="18" charset="0"/>
                <a:cs typeface="Times New Roman" panose="02020603050405020304" pitchFamily="18" charset="0"/>
              </a:rPr>
            </a:br>
            <a:r>
              <a:rPr lang="fr-FR" sz="3200" b="1" dirty="0">
                <a:solidFill>
                  <a:srgbClr val="7CBF33"/>
                </a:solidFill>
              </a:rPr>
              <a:t> </a:t>
            </a:r>
          </a:p>
        </p:txBody>
      </p:sp>
      <p:sp>
        <p:nvSpPr>
          <p:cNvPr id="8" name="ZoneTexte 7">
            <a:extLst>
              <a:ext uri="{FF2B5EF4-FFF2-40B4-BE49-F238E27FC236}">
                <a16:creationId xmlns:a16="http://schemas.microsoft.com/office/drawing/2014/main" id="{15919628-8898-1163-E64A-D40C767C6BCD}"/>
              </a:ext>
            </a:extLst>
          </p:cNvPr>
          <p:cNvSpPr txBox="1"/>
          <p:nvPr/>
        </p:nvSpPr>
        <p:spPr>
          <a:xfrm>
            <a:off x="1099819" y="723236"/>
            <a:ext cx="8430073" cy="6155531"/>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KEY DIAGRAM: The Optimized </a:t>
            </a:r>
            <a:r>
              <a:rPr lang="en-US" dirty="0" err="1">
                <a:latin typeface="Times New Roman" panose="02020603050405020304" pitchFamily="18" charset="0"/>
                <a:cs typeface="Times New Roman" panose="02020603050405020304" pitchFamily="18" charset="0"/>
              </a:rPr>
              <a:t>GPUDirect</a:t>
            </a:r>
            <a:r>
              <a:rPr lang="en-US" dirty="0">
                <a:latin typeface="Times New Roman" panose="02020603050405020304" pitchFamily="18" charset="0"/>
                <a:cs typeface="Times New Roman" panose="02020603050405020304" pitchFamily="18" charset="0"/>
              </a:rPr>
              <a:t> RDMA Path</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The Concept</a:t>
            </a:r>
            <a:r>
              <a:rPr lang="en-US" sz="1400" dirty="0">
                <a:latin typeface="Times New Roman" panose="02020603050405020304" pitchFamily="18" charset="0"/>
                <a:cs typeface="Times New Roman" panose="02020603050405020304" pitchFamily="18" charset="0"/>
              </a:rPr>
              <a:t>: For inter-node communication, CUDA-aware MPI leverages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RDMA (Remote Direct Memory Access).</a:t>
            </a:r>
          </a:p>
          <a:p>
            <a:pPr lvl="1"/>
            <a:endParaRPr lang="en-US" sz="12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Mechanism</a:t>
            </a:r>
            <a:r>
              <a:rPr lang="en-US" sz="12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RDMA is the hardware feature that enables the Network Interface Card (NIC, typically InfiniBand or RoCE) to read and write directly into the GPU's memory buffer via the PCIe bus, by passing the Host CPU and Host RAM entirely.</a:t>
            </a:r>
          </a:p>
          <a:p>
            <a:pPr marL="628650" lvl="1"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The Optimized Flow</a:t>
            </a:r>
            <a:r>
              <a:rPr lang="en-US" sz="1400" dirty="0">
                <a:latin typeface="Times New Roman" panose="02020603050405020304" pitchFamily="18" charset="0"/>
                <a:cs typeface="Times New Roman" panose="02020603050405020304" pitchFamily="18" charset="0"/>
              </a:rPr>
              <a:t>: The data path is streamlined to:</a:t>
            </a:r>
          </a:p>
          <a:p>
            <a:pPr marL="628650" lvl="1"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lvl="1"/>
            <a:endParaRPr lang="en-US" sz="12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lvl="1"/>
            <a:endParaRPr lang="en-US" sz="1200" dirty="0">
              <a:latin typeface="Times New Roman" panose="02020603050405020304" pitchFamily="18" charset="0"/>
              <a:cs typeface="Times New Roman" panose="02020603050405020304" pitchFamily="18" charset="0"/>
            </a:endParaRPr>
          </a:p>
          <a:p>
            <a:pPr lvl="1"/>
            <a:endParaRPr lang="en-US" sz="1200" dirty="0">
              <a:latin typeface="Times New Roman" panose="02020603050405020304" pitchFamily="18" charset="0"/>
              <a:cs typeface="Times New Roman" panose="02020603050405020304" pitchFamily="18" charset="0"/>
            </a:endParaRPr>
          </a:p>
          <a:p>
            <a:pPr lvl="1"/>
            <a:endParaRPr lang="en-US" sz="1200" dirty="0">
              <a:latin typeface="Times New Roman" panose="02020603050405020304" pitchFamily="18" charset="0"/>
              <a:cs typeface="Times New Roman" panose="02020603050405020304" pitchFamily="18" charset="0"/>
            </a:endParaRPr>
          </a:p>
          <a:p>
            <a:pPr marL="628650" lvl="1" indent="-1714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Main Advantage</a:t>
            </a:r>
            <a:r>
              <a:rPr lang="en-US" sz="1400" dirty="0">
                <a:latin typeface="Times New Roman" panose="02020603050405020304" pitchFamily="18" charset="0"/>
                <a:cs typeface="Times New Roman" panose="02020603050405020304" pitchFamily="18" charset="0"/>
              </a:rPr>
              <a:t>: This is the core takeaway—it leads to the complete elimination of Host Staging, drastically reducing latency and increasing effective bandwidth by removing two memory copies.</a:t>
            </a: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fr-FR" b="1" dirty="0">
              <a:solidFill>
                <a:schemeClr val="accent3"/>
              </a:solidFill>
            </a:endParaRPr>
          </a:p>
        </p:txBody>
      </p:sp>
      <p:pic>
        <p:nvPicPr>
          <p:cNvPr id="7" name="Image 6">
            <a:extLst>
              <a:ext uri="{FF2B5EF4-FFF2-40B4-BE49-F238E27FC236}">
                <a16:creationId xmlns:a16="http://schemas.microsoft.com/office/drawing/2014/main" id="{C94E5CBC-6944-7061-7267-B3DBB5A1888F}"/>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644DC6C3-5E51-D968-8677-10351685EA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descr="Une image contenant texte, capture d’écran, diagramme, Police&#10;&#10;Le contenu généré par l’IA peut être incorrect.">
            <a:extLst>
              <a:ext uri="{FF2B5EF4-FFF2-40B4-BE49-F238E27FC236}">
                <a16:creationId xmlns:a16="http://schemas.microsoft.com/office/drawing/2014/main" id="{403015A1-2CF9-0C63-F0CD-4C0A9CB2D436}"/>
              </a:ext>
            </a:extLst>
          </p:cNvPr>
          <p:cNvPicPr>
            <a:picLocks noChangeAspect="1"/>
          </p:cNvPicPr>
          <p:nvPr/>
        </p:nvPicPr>
        <p:blipFill>
          <a:blip r:embed="rId4"/>
          <a:stretch>
            <a:fillRect/>
          </a:stretch>
        </p:blipFill>
        <p:spPr>
          <a:xfrm>
            <a:off x="7129207" y="3128894"/>
            <a:ext cx="4646434" cy="1469385"/>
          </a:xfrm>
          <a:prstGeom prst="rect">
            <a:avLst/>
          </a:prstGeom>
        </p:spPr>
      </p:pic>
      <p:grpSp>
        <p:nvGrpSpPr>
          <p:cNvPr id="25" name="Groupe 24">
            <a:extLst>
              <a:ext uri="{FF2B5EF4-FFF2-40B4-BE49-F238E27FC236}">
                <a16:creationId xmlns:a16="http://schemas.microsoft.com/office/drawing/2014/main" id="{20641EBF-1126-2BD5-69FF-B7DB2121B2F5}"/>
              </a:ext>
            </a:extLst>
          </p:cNvPr>
          <p:cNvGrpSpPr/>
          <p:nvPr/>
        </p:nvGrpSpPr>
        <p:grpSpPr>
          <a:xfrm>
            <a:off x="1475854" y="3712106"/>
            <a:ext cx="5291032" cy="485567"/>
            <a:chOff x="6672404" y="5165718"/>
            <a:chExt cx="5291032" cy="485567"/>
          </a:xfrm>
        </p:grpSpPr>
        <p:sp>
          <p:nvSpPr>
            <p:cNvPr id="26" name="Rectangle : coins arrondis 25">
              <a:extLst>
                <a:ext uri="{FF2B5EF4-FFF2-40B4-BE49-F238E27FC236}">
                  <a16:creationId xmlns:a16="http://schemas.microsoft.com/office/drawing/2014/main" id="{320AA76D-5064-FC4C-085A-5A19677C736A}"/>
                </a:ext>
              </a:extLst>
            </p:cNvPr>
            <p:cNvSpPr/>
            <p:nvPr/>
          </p:nvSpPr>
          <p:spPr>
            <a:xfrm>
              <a:off x="11223735" y="5165718"/>
              <a:ext cx="739701" cy="4745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200" dirty="0">
                  <a:latin typeface="Times New Roman" panose="02020603050405020304" pitchFamily="18" charset="0"/>
                  <a:cs typeface="Times New Roman" panose="02020603050405020304" pitchFamily="18" charset="0"/>
                </a:rPr>
                <a:t>GPU</a:t>
              </a:r>
            </a:p>
          </p:txBody>
        </p:sp>
        <p:grpSp>
          <p:nvGrpSpPr>
            <p:cNvPr id="27" name="Groupe 26">
              <a:extLst>
                <a:ext uri="{FF2B5EF4-FFF2-40B4-BE49-F238E27FC236}">
                  <a16:creationId xmlns:a16="http://schemas.microsoft.com/office/drawing/2014/main" id="{71626DBF-2CBC-083D-66FB-2A66046E2078}"/>
                </a:ext>
              </a:extLst>
            </p:cNvPr>
            <p:cNvGrpSpPr/>
            <p:nvPr/>
          </p:nvGrpSpPr>
          <p:grpSpPr>
            <a:xfrm>
              <a:off x="6672404" y="5165718"/>
              <a:ext cx="4473116" cy="485567"/>
              <a:chOff x="6672404" y="5165718"/>
              <a:chExt cx="4473116" cy="485567"/>
            </a:xfrm>
          </p:grpSpPr>
          <p:sp>
            <p:nvSpPr>
              <p:cNvPr id="28" name="Rectangle : coins arrondis 27">
                <a:extLst>
                  <a:ext uri="{FF2B5EF4-FFF2-40B4-BE49-F238E27FC236}">
                    <a16:creationId xmlns:a16="http://schemas.microsoft.com/office/drawing/2014/main" id="{BC8D7736-D889-9584-5031-B77106AE2718}"/>
                  </a:ext>
                </a:extLst>
              </p:cNvPr>
              <p:cNvSpPr/>
              <p:nvPr/>
            </p:nvSpPr>
            <p:spPr>
              <a:xfrm>
                <a:off x="6672404" y="5176723"/>
                <a:ext cx="739701" cy="4745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200" dirty="0">
                    <a:latin typeface="Times New Roman" panose="02020603050405020304" pitchFamily="18" charset="0"/>
                    <a:cs typeface="Times New Roman" panose="02020603050405020304" pitchFamily="18" charset="0"/>
                  </a:rPr>
                  <a:t>GPU</a:t>
                </a:r>
              </a:p>
            </p:txBody>
          </p:sp>
          <p:sp>
            <p:nvSpPr>
              <p:cNvPr id="29" name="Rectangle : coins arrondis 28">
                <a:extLst>
                  <a:ext uri="{FF2B5EF4-FFF2-40B4-BE49-F238E27FC236}">
                    <a16:creationId xmlns:a16="http://schemas.microsoft.com/office/drawing/2014/main" id="{6B848EF3-13A6-A815-4987-0E0AEDD748A9}"/>
                  </a:ext>
                </a:extLst>
              </p:cNvPr>
              <p:cNvSpPr/>
              <p:nvPr/>
            </p:nvSpPr>
            <p:spPr>
              <a:xfrm>
                <a:off x="7874147" y="5165718"/>
                <a:ext cx="739701" cy="4745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200" dirty="0">
                    <a:latin typeface="Times New Roman" panose="02020603050405020304" pitchFamily="18" charset="0"/>
                    <a:cs typeface="Times New Roman" panose="02020603050405020304" pitchFamily="18" charset="0"/>
                  </a:rPr>
                  <a:t>NIC</a:t>
                </a:r>
              </a:p>
            </p:txBody>
          </p:sp>
          <p:sp>
            <p:nvSpPr>
              <p:cNvPr id="30" name="Rectangle : coins arrondis 29">
                <a:extLst>
                  <a:ext uri="{FF2B5EF4-FFF2-40B4-BE49-F238E27FC236}">
                    <a16:creationId xmlns:a16="http://schemas.microsoft.com/office/drawing/2014/main" id="{B7714CF4-E65D-D986-2890-F5DA6559133E}"/>
                  </a:ext>
                </a:extLst>
              </p:cNvPr>
              <p:cNvSpPr/>
              <p:nvPr/>
            </p:nvSpPr>
            <p:spPr>
              <a:xfrm>
                <a:off x="10121713" y="5165718"/>
                <a:ext cx="739701" cy="4745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200" dirty="0">
                    <a:latin typeface="Times New Roman" panose="02020603050405020304" pitchFamily="18" charset="0"/>
                    <a:cs typeface="Times New Roman" panose="02020603050405020304" pitchFamily="18" charset="0"/>
                  </a:rPr>
                  <a:t>NIC</a:t>
                </a:r>
              </a:p>
            </p:txBody>
          </p:sp>
          <p:sp>
            <p:nvSpPr>
              <p:cNvPr id="31" name="Rectangle : coins arrondis 30">
                <a:extLst>
                  <a:ext uri="{FF2B5EF4-FFF2-40B4-BE49-F238E27FC236}">
                    <a16:creationId xmlns:a16="http://schemas.microsoft.com/office/drawing/2014/main" id="{AD485500-0805-5B8C-E8F1-861771741CCA}"/>
                  </a:ext>
                </a:extLst>
              </p:cNvPr>
              <p:cNvSpPr/>
              <p:nvPr/>
            </p:nvSpPr>
            <p:spPr>
              <a:xfrm>
                <a:off x="8976170" y="5171505"/>
                <a:ext cx="818182" cy="47456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200" dirty="0">
                    <a:latin typeface="Times New Roman" panose="02020603050405020304" pitchFamily="18" charset="0"/>
                    <a:cs typeface="Times New Roman" panose="02020603050405020304" pitchFamily="18" charset="0"/>
                  </a:rPr>
                  <a:t>Network</a:t>
                </a:r>
              </a:p>
            </p:txBody>
          </p:sp>
          <p:cxnSp>
            <p:nvCxnSpPr>
              <p:cNvPr id="32" name="Connecteur droit avec flèche 31">
                <a:extLst>
                  <a:ext uri="{FF2B5EF4-FFF2-40B4-BE49-F238E27FC236}">
                    <a16:creationId xmlns:a16="http://schemas.microsoft.com/office/drawing/2014/main" id="{B239D90C-FD6D-E4CD-A77F-C1250BA13D54}"/>
                  </a:ext>
                </a:extLst>
              </p:cNvPr>
              <p:cNvCxnSpPr/>
              <p:nvPr/>
            </p:nvCxnSpPr>
            <p:spPr>
              <a:xfrm>
                <a:off x="7538720" y="5402999"/>
                <a:ext cx="23368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Connecteur droit avec flèche 32">
                <a:extLst>
                  <a:ext uri="{FF2B5EF4-FFF2-40B4-BE49-F238E27FC236}">
                    <a16:creationId xmlns:a16="http://schemas.microsoft.com/office/drawing/2014/main" id="{DC535979-DE91-6DB8-1E30-556823F2BA9C}"/>
                  </a:ext>
                </a:extLst>
              </p:cNvPr>
              <p:cNvCxnSpPr/>
              <p:nvPr/>
            </p:nvCxnSpPr>
            <p:spPr>
              <a:xfrm>
                <a:off x="10911840" y="5414004"/>
                <a:ext cx="23368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4" name="Connecteur droit avec flèche 33">
                <a:extLst>
                  <a:ext uri="{FF2B5EF4-FFF2-40B4-BE49-F238E27FC236}">
                    <a16:creationId xmlns:a16="http://schemas.microsoft.com/office/drawing/2014/main" id="{C273FDFE-7A1F-B798-B97D-7645A91B7011}"/>
                  </a:ext>
                </a:extLst>
              </p:cNvPr>
              <p:cNvCxnSpPr/>
              <p:nvPr/>
            </p:nvCxnSpPr>
            <p:spPr>
              <a:xfrm>
                <a:off x="9837303" y="5414004"/>
                <a:ext cx="23368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Connecteur droit avec flèche 34">
                <a:extLst>
                  <a:ext uri="{FF2B5EF4-FFF2-40B4-BE49-F238E27FC236}">
                    <a16:creationId xmlns:a16="http://schemas.microsoft.com/office/drawing/2014/main" id="{93EC1FB3-F6C7-A0DB-9088-1E9B793B5770}"/>
                  </a:ext>
                </a:extLst>
              </p:cNvPr>
              <p:cNvCxnSpPr/>
              <p:nvPr/>
            </p:nvCxnSpPr>
            <p:spPr>
              <a:xfrm>
                <a:off x="8686610" y="5414004"/>
                <a:ext cx="23368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pSp>
      <p:pic>
        <p:nvPicPr>
          <p:cNvPr id="37" name="Image 36">
            <a:extLst>
              <a:ext uri="{FF2B5EF4-FFF2-40B4-BE49-F238E27FC236}">
                <a16:creationId xmlns:a16="http://schemas.microsoft.com/office/drawing/2014/main" id="{6C1BE71F-4972-3685-D8B9-74F352C133C7}"/>
              </a:ext>
            </a:extLst>
          </p:cNvPr>
          <p:cNvPicPr>
            <a:picLocks noChangeAspect="1"/>
          </p:cNvPicPr>
          <p:nvPr/>
        </p:nvPicPr>
        <p:blipFill>
          <a:blip r:embed="rId5"/>
          <a:stretch>
            <a:fillRect/>
          </a:stretch>
        </p:blipFill>
        <p:spPr>
          <a:xfrm>
            <a:off x="9237700" y="4805082"/>
            <a:ext cx="1022985" cy="1022985"/>
          </a:xfrm>
          <a:prstGeom prst="rect">
            <a:avLst/>
          </a:prstGeom>
        </p:spPr>
      </p:pic>
    </p:spTree>
    <p:extLst>
      <p:ext uri="{BB962C8B-B14F-4D97-AF65-F5344CB8AC3E}">
        <p14:creationId xmlns:p14="http://schemas.microsoft.com/office/powerpoint/2010/main" val="635855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DBAB7-BB07-2D71-ABE8-F6BB4DA4101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EDEA9D-BA04-24F8-1914-DD5A293F111A}"/>
              </a:ext>
            </a:extLst>
          </p:cNvPr>
          <p:cNvSpPr>
            <a:spLocks noGrp="1"/>
          </p:cNvSpPr>
          <p:nvPr>
            <p:ph type="title"/>
          </p:nvPr>
        </p:nvSpPr>
        <p:spPr>
          <a:xfrm>
            <a:off x="838200" y="365126"/>
            <a:ext cx="10515600" cy="682440"/>
          </a:xfrm>
        </p:spPr>
        <p:txBody>
          <a:bodyPr>
            <a:normAutofit fontScale="90000"/>
          </a:bodyPr>
          <a:lstStyle/>
          <a:p>
            <a:r>
              <a:rPr lang="en-US" sz="3200" b="1" dirty="0">
                <a:solidFill>
                  <a:srgbClr val="7CBF33"/>
                </a:solidFill>
                <a:latin typeface="Times New Roman" panose="02020603050405020304" pitchFamily="18" charset="0"/>
                <a:cs typeface="Times New Roman" panose="02020603050405020304" pitchFamily="18" charset="0"/>
              </a:rPr>
              <a:t>The Core Mechanism: </a:t>
            </a:r>
            <a:r>
              <a:rPr lang="en-US" sz="3200" b="1" dirty="0" err="1">
                <a:solidFill>
                  <a:srgbClr val="7CBF33"/>
                </a:solidFill>
                <a:latin typeface="Times New Roman" panose="02020603050405020304" pitchFamily="18" charset="0"/>
                <a:cs typeface="Times New Roman" panose="02020603050405020304" pitchFamily="18" charset="0"/>
              </a:rPr>
              <a:t>GPUDirect</a:t>
            </a:r>
            <a:r>
              <a:rPr lang="en-US" sz="3200" b="1" dirty="0">
                <a:solidFill>
                  <a:srgbClr val="7CBF33"/>
                </a:solidFill>
                <a:latin typeface="Times New Roman" panose="02020603050405020304" pitchFamily="18" charset="0"/>
                <a:cs typeface="Times New Roman" panose="02020603050405020304" pitchFamily="18" charset="0"/>
              </a:rPr>
              <a:t> RDMA </a:t>
            </a:r>
            <a:br>
              <a:rPr lang="fr-FR" sz="3200" b="1" dirty="0">
                <a:solidFill>
                  <a:srgbClr val="7CBF33"/>
                </a:solidFill>
                <a:latin typeface="Times New Roman" panose="02020603050405020304" pitchFamily="18" charset="0"/>
                <a:cs typeface="Times New Roman" panose="02020603050405020304" pitchFamily="18" charset="0"/>
              </a:rPr>
            </a:br>
            <a:r>
              <a:rPr lang="fr-FR" sz="3200" b="1" dirty="0">
                <a:solidFill>
                  <a:srgbClr val="7CBF33"/>
                </a:solidFill>
                <a:latin typeface="Times New Roman" panose="02020603050405020304" pitchFamily="18" charset="0"/>
                <a:cs typeface="Times New Roman" panose="02020603050405020304" pitchFamily="18" charset="0"/>
              </a:rPr>
              <a:t> </a:t>
            </a:r>
          </a:p>
        </p:txBody>
      </p:sp>
      <p:sp>
        <p:nvSpPr>
          <p:cNvPr id="8" name="ZoneTexte 7">
            <a:extLst>
              <a:ext uri="{FF2B5EF4-FFF2-40B4-BE49-F238E27FC236}">
                <a16:creationId xmlns:a16="http://schemas.microsoft.com/office/drawing/2014/main" id="{F9D9C6B0-FA7D-C57F-A10A-8A1125F98985}"/>
              </a:ext>
            </a:extLst>
          </p:cNvPr>
          <p:cNvSpPr txBox="1"/>
          <p:nvPr/>
        </p:nvSpPr>
        <p:spPr>
          <a:xfrm>
            <a:off x="635000" y="1771188"/>
            <a:ext cx="6070599" cy="3939540"/>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Code Simplicity and Prerequisites</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400" b="1" dirty="0">
                <a:latin typeface="Times New Roman" panose="02020603050405020304" pitchFamily="18" charset="0"/>
                <a:cs typeface="Times New Roman" panose="02020603050405020304" pitchFamily="18" charset="0"/>
              </a:rPr>
              <a:t>Hardware/Software Requirements: </a:t>
            </a:r>
            <a:r>
              <a:rPr lang="en-US" sz="1400" dirty="0">
                <a:latin typeface="Times New Roman" panose="02020603050405020304" pitchFamily="18" charset="0"/>
                <a:cs typeface="Times New Roman" panose="02020603050405020304" pitchFamily="18" charset="0"/>
              </a:rPr>
              <a:t>The system needs :</a:t>
            </a:r>
          </a:p>
          <a:p>
            <a:pPr marL="1200150" lvl="2"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 Compatible NVIDIA GPU</a:t>
            </a:r>
          </a:p>
          <a:p>
            <a:pPr marL="1200150" lvl="2"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An RDMA-capable interconnect (InfiniBand/RoCE), </a:t>
            </a:r>
          </a:p>
          <a:p>
            <a:pPr marL="1200150" lvl="2"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And the MPI library must be specifically compiled for CUDA-aware/</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support.</a:t>
            </a:r>
          </a:p>
          <a:p>
            <a:pPr lvl="1"/>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The Crucial Cluster Step: </a:t>
            </a:r>
            <a:r>
              <a:rPr lang="en-US" sz="1400" dirty="0">
                <a:latin typeface="Times New Roman" panose="02020603050405020304" pitchFamily="18" charset="0"/>
                <a:cs typeface="Times New Roman" panose="02020603050405020304" pitchFamily="18" charset="0"/>
              </a:rPr>
              <a:t>On production HPC environments (like the Jean Zay cluster), the user must load the specific MPI library version that was compiled with the necessary support.</a:t>
            </a: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fr-FR" b="1" dirty="0">
              <a:solidFill>
                <a:schemeClr val="accent3"/>
              </a:solidFill>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41B05BD9-DF67-5E03-F431-182E460D230F}"/>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8968C805-CB77-4B4C-26BF-72F7B8000E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descr="Une image contenant texte, ligne, Police, blanc&#10;&#10;Le contenu généré par l’IA peut être incorrect.">
            <a:extLst>
              <a:ext uri="{FF2B5EF4-FFF2-40B4-BE49-F238E27FC236}">
                <a16:creationId xmlns:a16="http://schemas.microsoft.com/office/drawing/2014/main" id="{72884AFC-4F93-D828-3618-B243A9460316}"/>
              </a:ext>
            </a:extLst>
          </p:cNvPr>
          <p:cNvPicPr>
            <a:picLocks noChangeAspect="1"/>
          </p:cNvPicPr>
          <p:nvPr/>
        </p:nvPicPr>
        <p:blipFill>
          <a:blip r:embed="rId4"/>
          <a:stretch>
            <a:fillRect/>
          </a:stretch>
        </p:blipFill>
        <p:spPr>
          <a:xfrm>
            <a:off x="6929121" y="4645807"/>
            <a:ext cx="4946382" cy="770062"/>
          </a:xfrm>
          <a:prstGeom prst="rect">
            <a:avLst/>
          </a:prstGeom>
        </p:spPr>
      </p:pic>
      <p:pic>
        <p:nvPicPr>
          <p:cNvPr id="11" name="Image 10" descr="Une image contenant texte, capture d’écran, Police, nombre&#10;&#10;Le contenu généré par l’IA peut être incorrect.">
            <a:extLst>
              <a:ext uri="{FF2B5EF4-FFF2-40B4-BE49-F238E27FC236}">
                <a16:creationId xmlns:a16="http://schemas.microsoft.com/office/drawing/2014/main" id="{25C3627E-E69B-172C-454E-6017ED1F76B9}"/>
              </a:ext>
            </a:extLst>
          </p:cNvPr>
          <p:cNvPicPr>
            <a:picLocks noChangeAspect="1"/>
          </p:cNvPicPr>
          <p:nvPr/>
        </p:nvPicPr>
        <p:blipFill>
          <a:blip r:embed="rId5"/>
          <a:stretch>
            <a:fillRect/>
          </a:stretch>
        </p:blipFill>
        <p:spPr>
          <a:xfrm>
            <a:off x="6898641" y="2206643"/>
            <a:ext cx="4976862" cy="2325483"/>
          </a:xfrm>
          <a:prstGeom prst="rect">
            <a:avLst/>
          </a:prstGeom>
        </p:spPr>
      </p:pic>
      <p:pic>
        <p:nvPicPr>
          <p:cNvPr id="13" name="Image 12" descr="Une image contenant texte, capture d’écran, Police, ligne&#10;&#10;Le contenu généré par l’IA peut être incorrect.">
            <a:extLst>
              <a:ext uri="{FF2B5EF4-FFF2-40B4-BE49-F238E27FC236}">
                <a16:creationId xmlns:a16="http://schemas.microsoft.com/office/drawing/2014/main" id="{9952CC3D-D125-FA05-2F25-094A44B39D9C}"/>
              </a:ext>
            </a:extLst>
          </p:cNvPr>
          <p:cNvPicPr>
            <a:picLocks noChangeAspect="1"/>
          </p:cNvPicPr>
          <p:nvPr/>
        </p:nvPicPr>
        <p:blipFill>
          <a:blip r:embed="rId6"/>
          <a:stretch>
            <a:fillRect/>
          </a:stretch>
        </p:blipFill>
        <p:spPr>
          <a:xfrm>
            <a:off x="6929121" y="1427616"/>
            <a:ext cx="4976862" cy="754916"/>
          </a:xfrm>
          <a:prstGeom prst="rect">
            <a:avLst/>
          </a:prstGeom>
        </p:spPr>
      </p:pic>
    </p:spTree>
    <p:extLst>
      <p:ext uri="{BB962C8B-B14F-4D97-AF65-F5344CB8AC3E}">
        <p14:creationId xmlns:p14="http://schemas.microsoft.com/office/powerpoint/2010/main" val="2782800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C59EA-0673-5945-D584-9E93EDB0EE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0DE8B2-9154-AF35-14CB-8A931CD1668F}"/>
              </a:ext>
            </a:extLst>
          </p:cNvPr>
          <p:cNvSpPr>
            <a:spLocks noGrp="1"/>
          </p:cNvSpPr>
          <p:nvPr>
            <p:ph type="title"/>
          </p:nvPr>
        </p:nvSpPr>
        <p:spPr>
          <a:xfrm>
            <a:off x="838200" y="379414"/>
            <a:ext cx="10515600" cy="682440"/>
          </a:xfrm>
        </p:spPr>
        <p:txBody>
          <a:bodyPr>
            <a:normAutofit/>
          </a:bodyPr>
          <a:lstStyle/>
          <a:p>
            <a:r>
              <a:rPr lang="en-US" sz="3200" b="1" dirty="0">
                <a:solidFill>
                  <a:srgbClr val="7CBF33"/>
                </a:solidFill>
                <a:latin typeface="Times New Roman" panose="02020603050405020304" pitchFamily="18" charset="0"/>
                <a:cs typeface="Times New Roman" panose="02020603050405020304" pitchFamily="18" charset="0"/>
              </a:rPr>
              <a:t>Experimental Evaluation and Performance Proof</a:t>
            </a:r>
          </a:p>
        </p:txBody>
      </p:sp>
      <p:sp>
        <p:nvSpPr>
          <p:cNvPr id="8" name="ZoneTexte 7">
            <a:extLst>
              <a:ext uri="{FF2B5EF4-FFF2-40B4-BE49-F238E27FC236}">
                <a16:creationId xmlns:a16="http://schemas.microsoft.com/office/drawing/2014/main" id="{92C7DF5F-581E-CAB9-BBEA-64CE6CC1ACE7}"/>
              </a:ext>
            </a:extLst>
          </p:cNvPr>
          <p:cNvSpPr txBox="1"/>
          <p:nvPr/>
        </p:nvSpPr>
        <p:spPr>
          <a:xfrm>
            <a:off x="838199" y="1209871"/>
            <a:ext cx="5906550" cy="4524315"/>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Evaluation Protocol</a:t>
            </a:r>
            <a:r>
              <a:rPr lang="en-US" dirty="0">
                <a:latin typeface="Times New Roman" panose="02020603050405020304" pitchFamily="18" charset="0"/>
                <a:cs typeface="Times New Roman" panose="02020603050405020304" pitchFamily="18" charset="0"/>
              </a:rPr>
              <a:t>: Standard Benchmarks (OSU)</a:t>
            </a:r>
          </a:p>
          <a:p>
            <a:pPr lvl="1"/>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objectively quantify the benefits of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RDMA, we rely on standard, established tools: the </a:t>
            </a:r>
            <a:r>
              <a:rPr lang="en-US" sz="1400" b="1" dirty="0">
                <a:latin typeface="Times New Roman" panose="02020603050405020304" pitchFamily="18" charset="0"/>
                <a:cs typeface="Times New Roman" panose="02020603050405020304" pitchFamily="18" charset="0"/>
              </a:rPr>
              <a:t>OSU Micro-Benchmarks (OMB).</a:t>
            </a:r>
          </a:p>
          <a:p>
            <a:pPr marL="742950" lvl="1"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These benchmarks isolate and measure the raw limits of communication performance.</a:t>
            </a: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Methodology</a:t>
            </a:r>
            <a:r>
              <a:rPr lang="en-US" sz="1400" dirty="0">
                <a:latin typeface="Times New Roman" panose="02020603050405020304" pitchFamily="18" charset="0"/>
                <a:cs typeface="Times New Roman" panose="02020603050405020304" pitchFamily="18" charset="0"/>
              </a:rPr>
              <a:t>: We use the bidirectional Ping-Pong test (</a:t>
            </a:r>
            <a:r>
              <a:rPr lang="en-US" sz="1400" dirty="0" err="1">
                <a:solidFill>
                  <a:schemeClr val="accent6"/>
                </a:solidFill>
                <a:latin typeface="Times New Roman" panose="02020603050405020304" pitchFamily="18" charset="0"/>
                <a:cs typeface="Times New Roman" panose="02020603050405020304" pitchFamily="18" charset="0"/>
              </a:rPr>
              <a:t>MPI_Isend</a:t>
            </a:r>
            <a:r>
              <a:rPr lang="en-US" sz="1400" dirty="0">
                <a:solidFill>
                  <a:schemeClr val="accent6"/>
                </a:solidFill>
                <a:latin typeface="Times New Roman" panose="02020603050405020304" pitchFamily="18" charset="0"/>
                <a:cs typeface="Times New Roman" panose="02020603050405020304" pitchFamily="18" charset="0"/>
              </a:rPr>
              <a:t>/</a:t>
            </a:r>
            <a:r>
              <a:rPr lang="en-US" sz="1400" dirty="0" err="1">
                <a:solidFill>
                  <a:schemeClr val="accent6"/>
                </a:solidFill>
                <a:latin typeface="Times New Roman" panose="02020603050405020304" pitchFamily="18" charset="0"/>
                <a:cs typeface="Times New Roman" panose="02020603050405020304" pitchFamily="18" charset="0"/>
              </a:rPr>
              <a:t>MPI_Irecv</a:t>
            </a:r>
            <a:r>
              <a:rPr lang="en-US" sz="1400" dirty="0">
                <a:latin typeface="Times New Roman" panose="02020603050405020304" pitchFamily="18" charset="0"/>
                <a:cs typeface="Times New Roman" panose="02020603050405020304" pitchFamily="18" charset="0"/>
              </a:rPr>
              <a:t>) to measure performance under saturation.</a:t>
            </a: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Metrics</a:t>
            </a:r>
            <a:r>
              <a:rPr lang="en-US" sz="1400" dirty="0">
                <a:latin typeface="Times New Roman" panose="02020603050405020304" pitchFamily="18" charset="0"/>
                <a:cs typeface="Times New Roman" panose="02020603050405020304" pitchFamily="18" charset="0"/>
              </a:rPr>
              <a:t>: We focus on:</a:t>
            </a:r>
          </a:p>
          <a:p>
            <a:pPr lvl="1"/>
            <a:endParaRPr lang="en-US" sz="12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Latency (for small messages): Measures the overhead and startup time.</a:t>
            </a:r>
          </a:p>
          <a:p>
            <a:pPr marL="1200150" lvl="2"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Bandwidth (for large messages): Measures the maximum data throughput.</a:t>
            </a:r>
          </a:p>
          <a:p>
            <a:pPr lvl="2"/>
            <a:endParaRPr lang="en-US" sz="12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b="1" dirty="0">
                <a:latin typeface="Times New Roman" panose="02020603050405020304" pitchFamily="18" charset="0"/>
                <a:ea typeface="Tahoma" panose="020B0604030504040204" pitchFamily="34" charset="0"/>
                <a:cs typeface="Times New Roman" panose="02020603050405020304" pitchFamily="18" charset="0"/>
              </a:rPr>
              <a:t>Scenarios Compared:</a:t>
            </a:r>
            <a:r>
              <a:rPr lang="en-US" sz="1400" dirty="0">
                <a:latin typeface="Times New Roman" panose="02020603050405020304" pitchFamily="18" charset="0"/>
                <a:ea typeface="Tahoma" panose="020B0604030504040204" pitchFamily="34" charset="0"/>
                <a:cs typeface="Times New Roman" panose="02020603050405020304" pitchFamily="18" charset="0"/>
              </a:rPr>
              <a:t> </a:t>
            </a:r>
            <a:r>
              <a:rPr lang="en-US" sz="1400" b="1" dirty="0">
                <a:latin typeface="Times New Roman" panose="02020603050405020304" pitchFamily="18" charset="0"/>
                <a:ea typeface="Tahoma" panose="020B0604030504040204" pitchFamily="34" charset="0"/>
                <a:cs typeface="Times New Roman" panose="02020603050405020304" pitchFamily="18" charset="0"/>
              </a:rPr>
              <a:t>CUDA Staged</a:t>
            </a:r>
            <a:r>
              <a:rPr lang="en-US" sz="1400" dirty="0">
                <a:latin typeface="Times New Roman" panose="02020603050405020304" pitchFamily="18" charset="0"/>
                <a:ea typeface="Tahoma" panose="020B0604030504040204" pitchFamily="34" charset="0"/>
                <a:cs typeface="Times New Roman" panose="02020603050405020304" pitchFamily="18" charset="0"/>
              </a:rPr>
              <a:t> (The slow baseline) vs. </a:t>
            </a:r>
            <a:r>
              <a:rPr lang="en-US" sz="1400" b="1" dirty="0">
                <a:latin typeface="Times New Roman" panose="02020603050405020304" pitchFamily="18" charset="0"/>
                <a:ea typeface="Tahoma" panose="020B0604030504040204" pitchFamily="34" charset="0"/>
                <a:cs typeface="Times New Roman" panose="02020603050405020304" pitchFamily="18" charset="0"/>
              </a:rPr>
              <a:t>CUDA Aware</a:t>
            </a:r>
            <a:r>
              <a:rPr lang="en-US" sz="1400" dirty="0">
                <a:latin typeface="Times New Roman" panose="02020603050405020304" pitchFamily="18" charset="0"/>
                <a:ea typeface="Tahoma" panose="020B0604030504040204" pitchFamily="34" charset="0"/>
                <a:cs typeface="Times New Roman" panose="02020603050405020304" pitchFamily="18" charset="0"/>
              </a:rPr>
              <a:t> (The optimized path).</a:t>
            </a:r>
          </a:p>
          <a:p>
            <a:pPr lvl="1"/>
            <a:endParaRPr lang="en-US" sz="1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fr-FR" b="1" dirty="0">
              <a:solidFill>
                <a:schemeClr val="accent3"/>
              </a:solidFill>
            </a:endParaRPr>
          </a:p>
        </p:txBody>
      </p:sp>
      <p:pic>
        <p:nvPicPr>
          <p:cNvPr id="7" name="Image 6">
            <a:extLst>
              <a:ext uri="{FF2B5EF4-FFF2-40B4-BE49-F238E27FC236}">
                <a16:creationId xmlns:a16="http://schemas.microsoft.com/office/drawing/2014/main" id="{01AEEFDA-AA97-B138-387C-1AE6B46EFC44}"/>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DC1F3098-F5DA-C9F9-DF9D-8A33B56B94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3E26981-2F21-E3DC-CC0A-7A47209B1162}"/>
              </a:ext>
            </a:extLst>
          </p:cNvPr>
          <p:cNvSpPr/>
          <p:nvPr/>
        </p:nvSpPr>
        <p:spPr>
          <a:xfrm>
            <a:off x="7053744" y="1869871"/>
            <a:ext cx="4942514" cy="2933700"/>
          </a:xfrm>
          <a:prstGeom prst="rect">
            <a:avLst/>
          </a:prstGeom>
          <a:ln w="3175"/>
        </p:spPr>
        <p:style>
          <a:lnRef idx="2">
            <a:schemeClr val="dk1"/>
          </a:lnRef>
          <a:fillRef idx="1">
            <a:schemeClr val="lt1"/>
          </a:fillRef>
          <a:effectRef idx="0">
            <a:schemeClr val="dk1"/>
          </a:effectRef>
          <a:fontRef idx="minor">
            <a:schemeClr val="dk1"/>
          </a:fontRef>
        </p:style>
        <p:txBody>
          <a:bodyPr rtlCol="0" anchor="ctr"/>
          <a:lstStyle/>
          <a:p>
            <a:r>
              <a:rPr lang="fr-FR" sz="900" dirty="0" err="1">
                <a:effectLst>
                  <a:outerShdw blurRad="38100" dist="38100" dir="2700000" algn="tl">
                    <a:srgbClr val="000000">
                      <a:alpha val="43137"/>
                    </a:srgbClr>
                  </a:outerShdw>
                </a:effectLst>
              </a:rPr>
              <a:t>MPI_Request</a:t>
            </a:r>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requests</a:t>
            </a:r>
            <a:r>
              <a:rPr lang="fr-FR" sz="900" dirty="0">
                <a:effectLst>
                  <a:outerShdw blurRad="38100" dist="38100" dir="2700000" algn="tl">
                    <a:srgbClr val="000000">
                      <a:alpha val="43137"/>
                    </a:srgbClr>
                  </a:outerShdw>
                </a:effectLst>
              </a:rPr>
              <a:t>[2] = { MPI_REQUEST_NULL , MPI_REQUEST_NULL };</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if(</a:t>
            </a:r>
            <a:r>
              <a:rPr lang="fr-FR" sz="900" dirty="0" err="1">
                <a:effectLst>
                  <a:outerShdw blurRad="38100" dist="38100" dir="2700000" algn="tl">
                    <a:srgbClr val="000000">
                      <a:alpha val="43137"/>
                    </a:srgbClr>
                  </a:outerShdw>
                </a:effectLst>
              </a:rPr>
              <a:t>rank</a:t>
            </a:r>
            <a:r>
              <a:rPr lang="fr-FR" sz="900" dirty="0">
                <a:effectLst>
                  <a:outerShdw blurRad="38100" dist="38100" dir="2700000" algn="tl">
                    <a:srgbClr val="000000">
                      <a:alpha val="43137"/>
                    </a:srgbClr>
                  </a:outerShdw>
                </a:effectLst>
              </a:rPr>
              <a:t> == 0){</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MPI_Isend</a:t>
            </a:r>
            <a:r>
              <a:rPr lang="fr-FR" sz="900" dirty="0">
                <a:effectLst>
                  <a:outerShdw blurRad="38100" dist="38100" dir="2700000" algn="tl">
                    <a:srgbClr val="000000">
                      <a:alpha val="43137"/>
                    </a:srgbClr>
                  </a:outerShdw>
                </a:effectLst>
              </a:rPr>
              <a:t>(</a:t>
            </a:r>
            <a:r>
              <a:rPr lang="fr-FR" sz="900" dirty="0" err="1">
                <a:effectLst>
                  <a:outerShdw blurRad="38100" dist="38100" dir="2700000" algn="tl">
                    <a:srgbClr val="000000">
                      <a:alpha val="43137"/>
                    </a:srgbClr>
                  </a:outerShdw>
                </a:effectLst>
              </a:rPr>
              <a:t>d_A</a:t>
            </a:r>
            <a:r>
              <a:rPr lang="fr-FR" sz="900" dirty="0">
                <a:effectLst>
                  <a:outerShdw blurRad="38100" dist="38100" dir="2700000" algn="tl">
                    <a:srgbClr val="000000">
                      <a:alpha val="43137"/>
                    </a:srgbClr>
                  </a:outerShdw>
                </a:effectLst>
              </a:rPr>
              <a:t>, N, MPI_DOUBLE, 1, tag1, MPI_COMM_WORLD, &amp;</a:t>
            </a:r>
            <a:r>
              <a:rPr lang="fr-FR" sz="900" dirty="0" err="1">
                <a:effectLst>
                  <a:outerShdw blurRad="38100" dist="38100" dir="2700000" algn="tl">
                    <a:srgbClr val="000000">
                      <a:alpha val="43137"/>
                    </a:srgbClr>
                  </a:outerShdw>
                </a:effectLst>
              </a:rPr>
              <a:t>requests</a:t>
            </a:r>
            <a:r>
              <a:rPr lang="fr-FR" sz="900" dirty="0">
                <a:effectLst>
                  <a:outerShdw blurRad="38100" dist="38100" dir="2700000" algn="tl">
                    <a:srgbClr val="000000">
                      <a:alpha val="43137"/>
                    </a:srgbClr>
                  </a:outerShdw>
                </a:effectLst>
              </a:rPr>
              <a:t>[0]);</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MPI_Irecv</a:t>
            </a:r>
            <a:r>
              <a:rPr lang="fr-FR" sz="900" dirty="0">
                <a:effectLst>
                  <a:outerShdw blurRad="38100" dist="38100" dir="2700000" algn="tl">
                    <a:srgbClr val="000000">
                      <a:alpha val="43137"/>
                    </a:srgbClr>
                  </a:outerShdw>
                </a:effectLst>
              </a:rPr>
              <a:t>(d_A_1, N, MPI_DOUBLE, 1, tag2, MPI_COMM_WORLD, &amp;</a:t>
            </a:r>
            <a:r>
              <a:rPr lang="fr-FR" sz="900" dirty="0" err="1">
                <a:effectLst>
                  <a:outerShdw blurRad="38100" dist="38100" dir="2700000" algn="tl">
                    <a:srgbClr val="000000">
                      <a:alpha val="43137"/>
                    </a:srgbClr>
                  </a:outerShdw>
                </a:effectLst>
              </a:rPr>
              <a:t>requests</a:t>
            </a:r>
            <a:r>
              <a:rPr lang="fr-FR" sz="900" dirty="0">
                <a:effectLst>
                  <a:outerShdw blurRad="38100" dist="38100" dir="2700000" algn="tl">
                    <a:srgbClr val="000000">
                      <a:alpha val="43137"/>
                    </a:srgbClr>
                  </a:outerShdw>
                </a:effectLst>
              </a:rPr>
              <a:t>[1]);</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MPI_Waitall</a:t>
            </a:r>
            <a:r>
              <a:rPr lang="fr-FR" sz="900" dirty="0">
                <a:effectLst>
                  <a:outerShdw blurRad="38100" dist="38100" dir="2700000" algn="tl">
                    <a:srgbClr val="000000">
                      <a:alpha val="43137"/>
                    </a:srgbClr>
                  </a:outerShdw>
                </a:effectLst>
              </a:rPr>
              <a:t>(2, </a:t>
            </a:r>
            <a:r>
              <a:rPr lang="fr-FR" sz="900" dirty="0" err="1">
                <a:effectLst>
                  <a:outerShdw blurRad="38100" dist="38100" dir="2700000" algn="tl">
                    <a:srgbClr val="000000">
                      <a:alpha val="43137"/>
                    </a:srgbClr>
                  </a:outerShdw>
                </a:effectLst>
              </a:rPr>
              <a:t>requests</a:t>
            </a:r>
            <a:r>
              <a:rPr lang="fr-FR" sz="900" dirty="0">
                <a:effectLst>
                  <a:outerShdw blurRad="38100" dist="38100" dir="2700000" algn="tl">
                    <a:srgbClr val="000000">
                      <a:alpha val="43137"/>
                    </a:srgbClr>
                  </a:outerShdw>
                </a:effectLst>
              </a:rPr>
              <a:t>, MPI_STATUSES_IGNORE);</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a:t>
            </a:r>
          </a:p>
          <a:p>
            <a:endParaRPr lang="fr-FR" sz="900" dirty="0">
              <a:effectLst>
                <a:outerShdw blurRad="38100" dist="38100" dir="2700000" algn="tl">
                  <a:srgbClr val="000000">
                    <a:alpha val="43137"/>
                  </a:srgbClr>
                </a:outerShdw>
              </a:effectLst>
            </a:endParaRPr>
          </a:p>
          <a:p>
            <a:r>
              <a:rPr lang="fr-FR" sz="900" dirty="0" err="1">
                <a:effectLst>
                  <a:outerShdw blurRad="38100" dist="38100" dir="2700000" algn="tl">
                    <a:srgbClr val="000000">
                      <a:alpha val="43137"/>
                    </a:srgbClr>
                  </a:outerShdw>
                </a:effectLst>
              </a:rPr>
              <a:t>else</a:t>
            </a:r>
            <a:r>
              <a:rPr lang="fr-FR" sz="900" dirty="0">
                <a:effectLst>
                  <a:outerShdw blurRad="38100" dist="38100" dir="2700000" algn="tl">
                    <a:srgbClr val="000000">
                      <a:alpha val="43137"/>
                    </a:srgbClr>
                  </a:outerShdw>
                </a:effectLst>
              </a:rPr>
              <a:t> if(</a:t>
            </a:r>
            <a:r>
              <a:rPr lang="fr-FR" sz="900" dirty="0" err="1">
                <a:effectLst>
                  <a:outerShdw blurRad="38100" dist="38100" dir="2700000" algn="tl">
                    <a:srgbClr val="000000">
                      <a:alpha val="43137"/>
                    </a:srgbClr>
                  </a:outerShdw>
                </a:effectLst>
              </a:rPr>
              <a:t>rank</a:t>
            </a:r>
            <a:r>
              <a:rPr lang="fr-FR" sz="900" dirty="0">
                <a:effectLst>
                  <a:outerShdw blurRad="38100" dist="38100" dir="2700000" algn="tl">
                    <a:srgbClr val="000000">
                      <a:alpha val="43137"/>
                    </a:srgbClr>
                  </a:outerShdw>
                </a:effectLst>
              </a:rPr>
              <a:t> == 1){</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MPI_Isend</a:t>
            </a:r>
            <a:r>
              <a:rPr lang="fr-FR" sz="900" dirty="0">
                <a:effectLst>
                  <a:outerShdw blurRad="38100" dist="38100" dir="2700000" algn="tl">
                    <a:srgbClr val="000000">
                      <a:alpha val="43137"/>
                    </a:srgbClr>
                  </a:outerShdw>
                </a:effectLst>
              </a:rPr>
              <a:t>(</a:t>
            </a:r>
            <a:r>
              <a:rPr lang="fr-FR" sz="900" dirty="0" err="1">
                <a:effectLst>
                  <a:outerShdw blurRad="38100" dist="38100" dir="2700000" algn="tl">
                    <a:srgbClr val="000000">
                      <a:alpha val="43137"/>
                    </a:srgbClr>
                  </a:outerShdw>
                </a:effectLst>
              </a:rPr>
              <a:t>d_A</a:t>
            </a:r>
            <a:r>
              <a:rPr lang="fr-FR" sz="900" dirty="0">
                <a:effectLst>
                  <a:outerShdw blurRad="38100" dist="38100" dir="2700000" algn="tl">
                    <a:srgbClr val="000000">
                      <a:alpha val="43137"/>
                    </a:srgbClr>
                  </a:outerShdw>
                </a:effectLst>
              </a:rPr>
              <a:t>, N, MPI_DOUBLE, 0, tag2, MPI_COMM_WORLD, &amp;</a:t>
            </a:r>
            <a:r>
              <a:rPr lang="fr-FR" sz="900" dirty="0" err="1">
                <a:effectLst>
                  <a:outerShdw blurRad="38100" dist="38100" dir="2700000" algn="tl">
                    <a:srgbClr val="000000">
                      <a:alpha val="43137"/>
                    </a:srgbClr>
                  </a:outerShdw>
                </a:effectLst>
              </a:rPr>
              <a:t>requests</a:t>
            </a:r>
            <a:r>
              <a:rPr lang="fr-FR" sz="900" dirty="0">
                <a:effectLst>
                  <a:outerShdw blurRad="38100" dist="38100" dir="2700000" algn="tl">
                    <a:srgbClr val="000000">
                      <a:alpha val="43137"/>
                    </a:srgbClr>
                  </a:outerShdw>
                </a:effectLst>
              </a:rPr>
              <a:t>[0]);</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MPI_Irecv</a:t>
            </a:r>
            <a:r>
              <a:rPr lang="fr-FR" sz="900" dirty="0">
                <a:effectLst>
                  <a:outerShdw blurRad="38100" dist="38100" dir="2700000" algn="tl">
                    <a:srgbClr val="000000">
                      <a:alpha val="43137"/>
                    </a:srgbClr>
                  </a:outerShdw>
                </a:effectLst>
              </a:rPr>
              <a:t>(d_A_1, N, MPI_DOUBLE, 0, tag1, MPI_COMM_WORLD, &amp;</a:t>
            </a:r>
            <a:r>
              <a:rPr lang="fr-FR" sz="900" dirty="0" err="1">
                <a:effectLst>
                  <a:outerShdw blurRad="38100" dist="38100" dir="2700000" algn="tl">
                    <a:srgbClr val="000000">
                      <a:alpha val="43137"/>
                    </a:srgbClr>
                  </a:outerShdw>
                </a:effectLst>
              </a:rPr>
              <a:t>requests</a:t>
            </a:r>
            <a:r>
              <a:rPr lang="fr-FR" sz="900" dirty="0">
                <a:effectLst>
                  <a:outerShdw blurRad="38100" dist="38100" dir="2700000" algn="tl">
                    <a:srgbClr val="000000">
                      <a:alpha val="43137"/>
                    </a:srgbClr>
                  </a:outerShdw>
                </a:effectLst>
              </a:rPr>
              <a:t>[1]);</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    </a:t>
            </a:r>
            <a:r>
              <a:rPr lang="fr-FR" sz="900" dirty="0" err="1">
                <a:effectLst>
                  <a:outerShdw blurRad="38100" dist="38100" dir="2700000" algn="tl">
                    <a:srgbClr val="000000">
                      <a:alpha val="43137"/>
                    </a:srgbClr>
                  </a:outerShdw>
                </a:effectLst>
              </a:rPr>
              <a:t>MPI_Waitall</a:t>
            </a:r>
            <a:r>
              <a:rPr lang="fr-FR" sz="900" dirty="0">
                <a:effectLst>
                  <a:outerShdw blurRad="38100" dist="38100" dir="2700000" algn="tl">
                    <a:srgbClr val="000000">
                      <a:alpha val="43137"/>
                    </a:srgbClr>
                  </a:outerShdw>
                </a:effectLst>
              </a:rPr>
              <a:t>(2, </a:t>
            </a:r>
            <a:r>
              <a:rPr lang="fr-FR" sz="900" dirty="0" err="1">
                <a:effectLst>
                  <a:outerShdw blurRad="38100" dist="38100" dir="2700000" algn="tl">
                    <a:srgbClr val="000000">
                      <a:alpha val="43137"/>
                    </a:srgbClr>
                  </a:outerShdw>
                </a:effectLst>
              </a:rPr>
              <a:t>requests</a:t>
            </a:r>
            <a:r>
              <a:rPr lang="fr-FR" sz="900" dirty="0">
                <a:effectLst>
                  <a:outerShdw blurRad="38100" dist="38100" dir="2700000" algn="tl">
                    <a:srgbClr val="000000">
                      <a:alpha val="43137"/>
                    </a:srgbClr>
                  </a:outerShdw>
                </a:effectLst>
              </a:rPr>
              <a:t>, MPI_STATUSES_IGNORE);</a:t>
            </a:r>
          </a:p>
          <a:p>
            <a:endParaRPr lang="fr-FR" sz="900" dirty="0">
              <a:effectLst>
                <a:outerShdw blurRad="38100" dist="38100" dir="2700000" algn="tl">
                  <a:srgbClr val="000000">
                    <a:alpha val="43137"/>
                  </a:srgbClr>
                </a:outerShdw>
              </a:effectLst>
            </a:endParaRPr>
          </a:p>
          <a:p>
            <a:r>
              <a:rPr lang="fr-FR" sz="900"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1177810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E7650-35AF-C3C4-8669-8BE08910B9B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8BF76F-BB5F-0D16-290B-379E17574860}"/>
              </a:ext>
            </a:extLst>
          </p:cNvPr>
          <p:cNvSpPr>
            <a:spLocks noGrp="1"/>
          </p:cNvSpPr>
          <p:nvPr>
            <p:ph type="title"/>
          </p:nvPr>
        </p:nvSpPr>
        <p:spPr>
          <a:xfrm>
            <a:off x="838200" y="379414"/>
            <a:ext cx="10515600" cy="682440"/>
          </a:xfrm>
        </p:spPr>
        <p:txBody>
          <a:bodyPr>
            <a:normAutofit/>
          </a:bodyPr>
          <a:lstStyle/>
          <a:p>
            <a:r>
              <a:rPr lang="en-US" sz="3200" b="1" dirty="0">
                <a:solidFill>
                  <a:srgbClr val="7CBF33"/>
                </a:solidFill>
                <a:latin typeface="Times New Roman" panose="02020603050405020304" pitchFamily="18" charset="0"/>
                <a:cs typeface="Times New Roman" panose="02020603050405020304" pitchFamily="18" charset="0"/>
              </a:rPr>
              <a:t>Experimental Evaluation and Performance Proof</a:t>
            </a:r>
          </a:p>
        </p:txBody>
      </p:sp>
      <p:sp>
        <p:nvSpPr>
          <p:cNvPr id="8" name="ZoneTexte 7">
            <a:extLst>
              <a:ext uri="{FF2B5EF4-FFF2-40B4-BE49-F238E27FC236}">
                <a16:creationId xmlns:a16="http://schemas.microsoft.com/office/drawing/2014/main" id="{72D7F130-6F7A-CC2E-5030-072B11DA9011}"/>
              </a:ext>
            </a:extLst>
          </p:cNvPr>
          <p:cNvSpPr txBox="1"/>
          <p:nvPr/>
        </p:nvSpPr>
        <p:spPr>
          <a:xfrm>
            <a:off x="838200" y="1209871"/>
            <a:ext cx="5052059" cy="3662541"/>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pt-BR" b="1" dirty="0">
                <a:latin typeface="Times New Roman" panose="02020603050405020304" pitchFamily="18" charset="0"/>
                <a:cs typeface="Times New Roman" panose="02020603050405020304" pitchFamily="18" charset="0"/>
              </a:rPr>
              <a:t>Result 1  : </a:t>
            </a:r>
            <a:r>
              <a:rPr lang="pt-BR" dirty="0">
                <a:latin typeface="Times New Roman" panose="02020603050405020304" pitchFamily="18" charset="0"/>
                <a:cs typeface="Times New Roman" panose="02020603050405020304" pitchFamily="18" charset="0"/>
              </a:rPr>
              <a:t>Intra-Node Bandwidth (NVLink)</a:t>
            </a:r>
            <a:endParaRPr lang="en-US"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Analysis (H100 Node):</a:t>
            </a:r>
            <a:r>
              <a:rPr lang="en-US" sz="1400" dirty="0">
                <a:latin typeface="Times New Roman" panose="02020603050405020304" pitchFamily="18" charset="0"/>
                <a:cs typeface="Times New Roman" panose="02020603050405020304" pitchFamily="18" charset="0"/>
              </a:rPr>
              <a:t> This test measures </a:t>
            </a:r>
            <a:r>
              <a:rPr lang="en-US" sz="1400" dirty="0">
                <a:solidFill>
                  <a:schemeClr val="accent6"/>
                </a:solidFill>
                <a:latin typeface="Times New Roman" panose="02020603050405020304" pitchFamily="18" charset="0"/>
                <a:cs typeface="Times New Roman" panose="02020603050405020304" pitchFamily="18" charset="0"/>
              </a:rPr>
              <a:t>GPU-to-GPU</a:t>
            </a:r>
            <a:r>
              <a:rPr lang="en-US" sz="1400" dirty="0">
                <a:latin typeface="Times New Roman" panose="02020603050405020304" pitchFamily="18" charset="0"/>
                <a:cs typeface="Times New Roman" panose="02020603050405020304" pitchFamily="18" charset="0"/>
              </a:rPr>
              <a:t> transfer within the same machine.</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Observation : </a:t>
            </a:r>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H100 CUDA aware</a:t>
            </a:r>
            <a:r>
              <a:rPr lang="en-US" sz="1400" dirty="0">
                <a:latin typeface="Times New Roman" panose="02020603050405020304" pitchFamily="18" charset="0"/>
                <a:cs typeface="Times New Roman" panose="02020603050405020304" pitchFamily="18" charset="0"/>
              </a:rPr>
              <a:t> path reaches a max effective bidirectional bandwidth of 220 GB/s.</a:t>
            </a: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Contrast:</a:t>
            </a:r>
            <a:r>
              <a:rPr lang="en-US" sz="1400" dirty="0">
                <a:latin typeface="Times New Roman" panose="02020603050405020304" pitchFamily="18" charset="0"/>
                <a:cs typeface="Times New Roman" panose="02020603050405020304" pitchFamily="18" charset="0"/>
              </a:rPr>
              <a:t> This is significantly faster than the H100 CUDA staged path, which is as usual slower than pure-CPU communication due to manual memory copies.</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Conclusion:</a:t>
            </a:r>
            <a:r>
              <a:rPr lang="en-US" sz="1400" dirty="0">
                <a:latin typeface="Times New Roman" panose="02020603050405020304" pitchFamily="18" charset="0"/>
                <a:cs typeface="Times New Roman" panose="02020603050405020304" pitchFamily="18" charset="0"/>
              </a:rPr>
              <a:t> The massive bandwidth gap confirms that the CUDA-aware MPI is using the high-speed </a:t>
            </a:r>
            <a:r>
              <a:rPr lang="en-US" sz="1400" dirty="0" err="1">
                <a:latin typeface="Times New Roman" panose="02020603050405020304" pitchFamily="18" charset="0"/>
                <a:cs typeface="Times New Roman" panose="02020603050405020304" pitchFamily="18" charset="0"/>
              </a:rPr>
              <a:t>NVLink</a:t>
            </a:r>
            <a:r>
              <a:rPr lang="en-US" sz="1400" dirty="0">
                <a:latin typeface="Times New Roman" panose="02020603050405020304" pitchFamily="18" charset="0"/>
                <a:cs typeface="Times New Roman" panose="02020603050405020304" pitchFamily="18" charset="0"/>
              </a:rPr>
              <a:t> connection directly via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P2P.</a:t>
            </a:r>
            <a:endParaRPr lang="fr-FR" b="1" dirty="0">
              <a:solidFill>
                <a:schemeClr val="accent3"/>
              </a:solidFill>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21546DD5-6172-4E2A-795D-F2A3FEF23CD8}"/>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09330154-BAB5-9555-2B02-292768A735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a16="http://schemas.microsoft.com/office/drawing/2014/main" id="{83978DB3-BF17-6A0E-41A5-FE47DD726D52}"/>
              </a:ext>
            </a:extLst>
          </p:cNvPr>
          <p:cNvPicPr>
            <a:picLocks noChangeAspect="1"/>
          </p:cNvPicPr>
          <p:nvPr/>
        </p:nvPicPr>
        <p:blipFill>
          <a:blip r:embed="rId4"/>
          <a:stretch>
            <a:fillRect/>
          </a:stretch>
        </p:blipFill>
        <p:spPr>
          <a:xfrm>
            <a:off x="5890259" y="2141634"/>
            <a:ext cx="6201458" cy="3115459"/>
          </a:xfrm>
          <a:prstGeom prst="rect">
            <a:avLst/>
          </a:prstGeom>
        </p:spPr>
      </p:pic>
    </p:spTree>
    <p:extLst>
      <p:ext uri="{BB962C8B-B14F-4D97-AF65-F5344CB8AC3E}">
        <p14:creationId xmlns:p14="http://schemas.microsoft.com/office/powerpoint/2010/main" val="422872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4331A-4346-B824-B29C-54CDFEB289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95CCE79-A4DE-69E3-0EC6-432E83007855}"/>
              </a:ext>
            </a:extLst>
          </p:cNvPr>
          <p:cNvSpPr>
            <a:spLocks noGrp="1"/>
          </p:cNvSpPr>
          <p:nvPr>
            <p:ph type="title"/>
          </p:nvPr>
        </p:nvSpPr>
        <p:spPr>
          <a:xfrm>
            <a:off x="838200" y="379414"/>
            <a:ext cx="10515600" cy="682440"/>
          </a:xfrm>
        </p:spPr>
        <p:txBody>
          <a:bodyPr>
            <a:normAutofit/>
          </a:bodyPr>
          <a:lstStyle/>
          <a:p>
            <a:r>
              <a:rPr lang="en-US" sz="3200" b="1" dirty="0">
                <a:solidFill>
                  <a:srgbClr val="7CBF33"/>
                </a:solidFill>
                <a:latin typeface="Times New Roman" panose="02020603050405020304" pitchFamily="18" charset="0"/>
                <a:cs typeface="Times New Roman" panose="02020603050405020304" pitchFamily="18" charset="0"/>
              </a:rPr>
              <a:t>Experimental Evaluation and Performance Proof</a:t>
            </a:r>
          </a:p>
        </p:txBody>
      </p:sp>
      <p:sp>
        <p:nvSpPr>
          <p:cNvPr id="8" name="ZoneTexte 7">
            <a:extLst>
              <a:ext uri="{FF2B5EF4-FFF2-40B4-BE49-F238E27FC236}">
                <a16:creationId xmlns:a16="http://schemas.microsoft.com/office/drawing/2014/main" id="{0C415EB8-694B-59E9-5E06-F6963843CC2E}"/>
              </a:ext>
            </a:extLst>
          </p:cNvPr>
          <p:cNvSpPr txBox="1"/>
          <p:nvPr/>
        </p:nvSpPr>
        <p:spPr>
          <a:xfrm>
            <a:off x="838200" y="1209871"/>
            <a:ext cx="5052059" cy="4862870"/>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pt-BR" b="1" dirty="0">
                <a:latin typeface="Times New Roman" panose="02020603050405020304" pitchFamily="18" charset="0"/>
                <a:cs typeface="Times New Roman" panose="02020603050405020304" pitchFamily="18" charset="0"/>
              </a:rPr>
              <a:t>Result 2  : </a:t>
            </a:r>
            <a:r>
              <a:rPr lang="pt-BR" dirty="0">
                <a:latin typeface="Times New Roman" panose="02020603050405020304" pitchFamily="18" charset="0"/>
                <a:cs typeface="Times New Roman" panose="02020603050405020304" pitchFamily="18" charset="0"/>
              </a:rPr>
              <a:t>Maximizing Inter-Node Bandwidth (GPUDirect RDMA Proof)</a:t>
            </a:r>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Analysis (H100 Node):</a:t>
            </a:r>
            <a:r>
              <a:rPr lang="en-US" sz="1400" dirty="0">
                <a:latin typeface="Times New Roman" panose="02020603050405020304" pitchFamily="18" charset="0"/>
                <a:cs typeface="Times New Roman" panose="02020603050405020304" pitchFamily="18" charset="0"/>
              </a:rPr>
              <a:t> The H100 node had the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RDMA driver installed. This test measures communication between </a:t>
            </a:r>
            <a:r>
              <a:rPr lang="en-US" sz="1400" dirty="0">
                <a:solidFill>
                  <a:srgbClr val="7CBF33"/>
                </a:solidFill>
                <a:latin typeface="Times New Roman" panose="02020603050405020304" pitchFamily="18" charset="0"/>
                <a:cs typeface="Times New Roman" panose="02020603050405020304" pitchFamily="18" charset="0"/>
              </a:rPr>
              <a:t>two separate nodes</a:t>
            </a:r>
            <a:r>
              <a:rPr lang="en-US" sz="1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Observation : </a:t>
            </a:r>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H100 CUDA aware</a:t>
            </a:r>
            <a:r>
              <a:rPr lang="en-US" sz="1400" dirty="0">
                <a:latin typeface="Times New Roman" panose="02020603050405020304" pitchFamily="18" charset="0"/>
                <a:cs typeface="Times New Roman" panose="02020603050405020304" pitchFamily="18" charset="0"/>
              </a:rPr>
              <a:t> path achieves an effective bidirectional bandwidth of 62 GB/s. This is close to the limit of the associated hardware (1 HCA capable of  50GB/s)</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Contrast:</a:t>
            </a:r>
            <a:r>
              <a:rPr lang="en-US" sz="1400" dirty="0">
                <a:latin typeface="Times New Roman" panose="02020603050405020304" pitchFamily="18" charset="0"/>
                <a:cs typeface="Times New Roman" panose="02020603050405020304" pitchFamily="18" charset="0"/>
              </a:rPr>
              <a:t> Crucially, the </a:t>
            </a:r>
            <a:r>
              <a:rPr lang="en-US" sz="1400" b="1" dirty="0">
                <a:latin typeface="Times New Roman" panose="02020603050405020304" pitchFamily="18" charset="0"/>
                <a:cs typeface="Times New Roman" panose="02020603050405020304" pitchFamily="18" charset="0"/>
              </a:rPr>
              <a:t>H100 CUDA aware</a:t>
            </a:r>
            <a:r>
              <a:rPr lang="en-US" sz="1400" dirty="0">
                <a:latin typeface="Times New Roman" panose="02020603050405020304" pitchFamily="18" charset="0"/>
                <a:cs typeface="Times New Roman" panose="02020603050405020304" pitchFamily="18" charset="0"/>
              </a:rPr>
              <a:t> path significantly outperforms the slow </a:t>
            </a:r>
            <a:r>
              <a:rPr lang="en-US" sz="1400" b="1" dirty="0">
                <a:latin typeface="Times New Roman" panose="02020603050405020304" pitchFamily="18" charset="0"/>
                <a:cs typeface="Times New Roman" panose="02020603050405020304" pitchFamily="18" charset="0"/>
              </a:rPr>
              <a:t>H100 CUDA staged</a:t>
            </a:r>
            <a:r>
              <a:rPr lang="en-US" sz="1400" dirty="0">
                <a:latin typeface="Times New Roman" panose="02020603050405020304" pitchFamily="18" charset="0"/>
                <a:cs typeface="Times New Roman" panose="02020603050405020304" pitchFamily="18" charset="0"/>
              </a:rPr>
              <a:t> path.</a:t>
            </a:r>
          </a:p>
          <a:p>
            <a:pPr marL="742950" lvl="1" indent="-285750">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Conclusion:</a:t>
            </a:r>
            <a:r>
              <a:rPr lang="en-US" sz="1400" dirty="0">
                <a:latin typeface="Times New Roman" panose="02020603050405020304" pitchFamily="18" charset="0"/>
                <a:cs typeface="Times New Roman" panose="02020603050405020304" pitchFamily="18" charset="0"/>
              </a:rPr>
              <a:t> This result proves that </a:t>
            </a:r>
            <a:r>
              <a:rPr lang="en-US" sz="1400" b="1" dirty="0" err="1">
                <a:latin typeface="Times New Roman" panose="02020603050405020304" pitchFamily="18" charset="0"/>
                <a:cs typeface="Times New Roman" panose="02020603050405020304" pitchFamily="18" charset="0"/>
              </a:rPr>
              <a:t>GPUDirect</a:t>
            </a:r>
            <a:r>
              <a:rPr lang="en-US" sz="1400" b="1" dirty="0">
                <a:latin typeface="Times New Roman" panose="02020603050405020304" pitchFamily="18" charset="0"/>
                <a:cs typeface="Times New Roman" panose="02020603050405020304" pitchFamily="18" charset="0"/>
              </a:rPr>
              <a:t> RDMA is active</a:t>
            </a:r>
            <a:r>
              <a:rPr lang="en-US" sz="1400" dirty="0">
                <a:latin typeface="Times New Roman" panose="02020603050405020304" pitchFamily="18" charset="0"/>
                <a:cs typeface="Times New Roman" panose="02020603050405020304" pitchFamily="18" charset="0"/>
              </a:rPr>
              <a:t>; the data transfer successfully bypassed the CPU staging, pushing the performance to the limit of the high-speed network hardware.</a:t>
            </a:r>
          </a:p>
          <a:p>
            <a:pPr marL="285750" indent="-285750">
              <a:buFont typeface="Arial" panose="020B0604020202020204" pitchFamily="34" charset="0"/>
              <a:buChar char="•"/>
            </a:pPr>
            <a:endParaRPr lang="fr-FR" b="1" dirty="0">
              <a:solidFill>
                <a:schemeClr val="accent3"/>
              </a:solidFill>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2ADE99CE-BEDF-7E6A-F4FD-AA52669AADD1}"/>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F42C41C2-C46D-784C-3897-2AF534104A4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a:extLst>
              <a:ext uri="{FF2B5EF4-FFF2-40B4-BE49-F238E27FC236}">
                <a16:creationId xmlns:a16="http://schemas.microsoft.com/office/drawing/2014/main" id="{72E0BAFB-8C10-9183-844C-C2310D0BC080}"/>
              </a:ext>
            </a:extLst>
          </p:cNvPr>
          <p:cNvPicPr>
            <a:picLocks noChangeAspect="1"/>
          </p:cNvPicPr>
          <p:nvPr/>
        </p:nvPicPr>
        <p:blipFill>
          <a:blip r:embed="rId4"/>
          <a:stretch>
            <a:fillRect/>
          </a:stretch>
        </p:blipFill>
        <p:spPr>
          <a:xfrm>
            <a:off x="5890259" y="2352279"/>
            <a:ext cx="5957430" cy="2992700"/>
          </a:xfrm>
          <a:prstGeom prst="rect">
            <a:avLst/>
          </a:prstGeom>
        </p:spPr>
      </p:pic>
    </p:spTree>
    <p:extLst>
      <p:ext uri="{BB962C8B-B14F-4D97-AF65-F5344CB8AC3E}">
        <p14:creationId xmlns:p14="http://schemas.microsoft.com/office/powerpoint/2010/main" val="3548385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A3621-C721-6421-4CAF-7D62E3E5838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6FDDF60-41DE-4229-0176-917B5CF19EC3}"/>
              </a:ext>
            </a:extLst>
          </p:cNvPr>
          <p:cNvSpPr>
            <a:spLocks noGrp="1"/>
          </p:cNvSpPr>
          <p:nvPr>
            <p:ph type="title"/>
          </p:nvPr>
        </p:nvSpPr>
        <p:spPr>
          <a:xfrm>
            <a:off x="838200" y="379414"/>
            <a:ext cx="10515600" cy="682440"/>
          </a:xfrm>
        </p:spPr>
        <p:txBody>
          <a:bodyPr>
            <a:normAutofit/>
          </a:bodyPr>
          <a:lstStyle/>
          <a:p>
            <a:r>
              <a:rPr lang="en-US" sz="3200" b="1" dirty="0">
                <a:solidFill>
                  <a:srgbClr val="7CBF33"/>
                </a:solidFill>
                <a:latin typeface="Times New Roman" panose="02020603050405020304" pitchFamily="18" charset="0"/>
                <a:cs typeface="Times New Roman" panose="02020603050405020304" pitchFamily="18" charset="0"/>
              </a:rPr>
              <a:t>Conclusion and </a:t>
            </a:r>
            <a:r>
              <a:rPr lang="fr-FR" sz="3200" b="1" dirty="0">
                <a:solidFill>
                  <a:srgbClr val="7CBF33"/>
                </a:solidFill>
                <a:latin typeface="Times New Roman" panose="02020603050405020304" pitchFamily="18" charset="0"/>
                <a:cs typeface="Times New Roman" panose="02020603050405020304" pitchFamily="18" charset="0"/>
              </a:rPr>
              <a:t>Perspectives </a:t>
            </a:r>
            <a:endParaRPr lang="en-US" sz="3200" b="1" dirty="0">
              <a:solidFill>
                <a:srgbClr val="7CBF33"/>
              </a:solidFill>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8904BFE0-10BC-2501-AB4C-9A9F3C27C33F}"/>
              </a:ext>
            </a:extLst>
          </p:cNvPr>
          <p:cNvSpPr txBox="1"/>
          <p:nvPr/>
        </p:nvSpPr>
        <p:spPr>
          <a:xfrm>
            <a:off x="838200" y="1434460"/>
            <a:ext cx="9316453" cy="3108543"/>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Synthesis</a:t>
            </a:r>
            <a:r>
              <a:rPr lang="en-US" dirty="0">
                <a:latin typeface="Times New Roman" panose="02020603050405020304" pitchFamily="18" charset="0"/>
                <a:cs typeface="Times New Roman" panose="02020603050405020304" pitchFamily="18" charset="0"/>
              </a:rPr>
              <a:t>: The Key to Scalability (Overlap)</a:t>
            </a:r>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lvl="1"/>
            <a:endParaRPr lang="en-US" sz="1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ultimate goal of CUDA-aware MPI is to allow overlap between computation and communication.</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 a "Staged" approach, the CPU is busy copying data, creating a bottleneck that stops the GPU from working.</a:t>
            </a: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With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RDMA, the GPU can continue its calculations while the Network Card (NIC) handles data transfers in the background.</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Result</a:t>
            </a:r>
            <a:r>
              <a:rPr lang="en-US" sz="1400" dirty="0">
                <a:latin typeface="Times New Roman" panose="02020603050405020304" pitchFamily="18" charset="0"/>
                <a:cs typeface="Times New Roman" panose="02020603050405020304" pitchFamily="18" charset="0"/>
              </a:rPr>
              <a:t>: This parallelism maximizes GPU utilization and is the only way to achieve efficient scaling on thousands of GPUs.</a:t>
            </a:r>
            <a:endParaRPr lang="fr-FR" sz="1400" dirty="0">
              <a:latin typeface="Times New Roman" panose="02020603050405020304" pitchFamily="18" charset="0"/>
              <a:cs typeface="Times New Roman" panose="02020603050405020304" pitchFamily="18" charset="0"/>
            </a:endParaRPr>
          </a:p>
          <a:p>
            <a:endParaRPr lang="fr-FR" b="1" dirty="0">
              <a:solidFill>
                <a:schemeClr val="accent3"/>
              </a:solidFill>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2FE481D9-96CB-D605-581F-722C85D307C6}"/>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9EA577C1-5720-61ED-9AC8-311D5C3DEA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284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07873-E5E5-A2F1-44E7-1F54791D05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9792729-AE66-1E0E-97E0-04FFFA467B4E}"/>
              </a:ext>
            </a:extLst>
          </p:cNvPr>
          <p:cNvSpPr>
            <a:spLocks noGrp="1"/>
          </p:cNvSpPr>
          <p:nvPr>
            <p:ph type="title"/>
          </p:nvPr>
        </p:nvSpPr>
        <p:spPr>
          <a:xfrm>
            <a:off x="838200" y="379414"/>
            <a:ext cx="10515600" cy="682440"/>
          </a:xfrm>
        </p:spPr>
        <p:txBody>
          <a:bodyPr>
            <a:normAutofit/>
          </a:bodyPr>
          <a:lstStyle/>
          <a:p>
            <a:r>
              <a:rPr lang="en-US" sz="3200" b="1" dirty="0">
                <a:solidFill>
                  <a:srgbClr val="7CBF33"/>
                </a:solidFill>
                <a:latin typeface="Times New Roman" panose="02020603050405020304" pitchFamily="18" charset="0"/>
                <a:cs typeface="Times New Roman" panose="02020603050405020304" pitchFamily="18" charset="0"/>
              </a:rPr>
              <a:t>Conclusion and </a:t>
            </a:r>
            <a:r>
              <a:rPr lang="fr-FR" sz="3200" b="1" dirty="0">
                <a:solidFill>
                  <a:srgbClr val="7CBF33"/>
                </a:solidFill>
                <a:latin typeface="Times New Roman" panose="02020603050405020304" pitchFamily="18" charset="0"/>
                <a:cs typeface="Times New Roman" panose="02020603050405020304" pitchFamily="18" charset="0"/>
              </a:rPr>
              <a:t>Perspectives </a:t>
            </a:r>
            <a:endParaRPr lang="en-US" sz="3200" b="1" dirty="0">
              <a:solidFill>
                <a:srgbClr val="7CBF33"/>
              </a:solidFill>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FCCEE8BB-ED9F-5C3C-A784-A6F7C565E692}"/>
              </a:ext>
            </a:extLst>
          </p:cNvPr>
          <p:cNvSpPr txBox="1"/>
          <p:nvPr/>
        </p:nvSpPr>
        <p:spPr>
          <a:xfrm>
            <a:off x="838201" y="1434460"/>
            <a:ext cx="5760720" cy="4401205"/>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Practical Summary  &amp; Best Practices</a:t>
            </a:r>
          </a:p>
          <a:p>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Initialization</a:t>
            </a:r>
            <a:r>
              <a:rPr lang="en-US" sz="1400" dirty="0">
                <a:latin typeface="Times New Roman" panose="02020603050405020304" pitchFamily="18" charset="0"/>
                <a:cs typeface="Times New Roman" panose="02020603050405020304" pitchFamily="18" charset="0"/>
              </a:rPr>
              <a:t>: Always initialize CUDA/GPU before MPI to ensure the library detects the hardware correctly.</a:t>
            </a: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Environment</a:t>
            </a:r>
            <a:r>
              <a:rPr lang="en-US" sz="1400" dirty="0">
                <a:latin typeface="Times New Roman" panose="02020603050405020304" pitchFamily="18" charset="0"/>
                <a:cs typeface="Times New Roman" panose="02020603050405020304" pitchFamily="18" charset="0"/>
              </a:rPr>
              <a:t>: On clusters like Jean Zay, always use the -</a:t>
            </a:r>
            <a:r>
              <a:rPr lang="en-US" sz="1400" dirty="0" err="1">
                <a:latin typeface="Times New Roman" panose="02020603050405020304" pitchFamily="18" charset="0"/>
                <a:cs typeface="Times New Roman" panose="02020603050405020304" pitchFamily="18" charset="0"/>
              </a:rPr>
              <a:t>cuda</a:t>
            </a:r>
            <a:r>
              <a:rPr lang="en-US" sz="1400" dirty="0">
                <a:latin typeface="Times New Roman" panose="02020603050405020304" pitchFamily="18" charset="0"/>
                <a:cs typeface="Times New Roman" panose="02020603050405020304" pitchFamily="18" charset="0"/>
              </a:rPr>
              <a:t> suffixed modules (e.g., </a:t>
            </a:r>
            <a:r>
              <a:rPr lang="en-US" sz="1400" dirty="0" err="1">
                <a:latin typeface="Times New Roman" panose="02020603050405020304" pitchFamily="18" charset="0"/>
                <a:cs typeface="Times New Roman" panose="02020603050405020304" pitchFamily="18" charset="0"/>
              </a:rPr>
              <a:t>openmpi</a:t>
            </a:r>
            <a:r>
              <a:rPr lang="en-US" sz="1400" dirty="0">
                <a:latin typeface="Times New Roman" panose="02020603050405020304" pitchFamily="18" charset="0"/>
                <a:cs typeface="Times New Roman" panose="02020603050405020304" pitchFamily="18" charset="0"/>
              </a:rPr>
              <a:t>/4.0.4-cuda).</a:t>
            </a: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Limit</a:t>
            </a:r>
            <a:r>
              <a:rPr lang="en-US" sz="1400" dirty="0">
                <a:latin typeface="Times New Roman" panose="02020603050405020304" pitchFamily="18" charset="0"/>
                <a:cs typeface="Times New Roman" panose="02020603050405020304" pitchFamily="18" charset="0"/>
              </a:rPr>
              <a:t>: Remember that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is typically optimized for one GPU per MPI rank.</a:t>
            </a:r>
          </a:p>
          <a:p>
            <a:endParaRPr lang="fr-FR" b="1" dirty="0">
              <a:solidFill>
                <a:schemeClr val="accent3"/>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fr-FR" sz="1600" b="1" dirty="0">
                <a:solidFill>
                  <a:schemeClr val="accent3"/>
                </a:solidFill>
                <a:latin typeface="Times New Roman" panose="02020603050405020304" pitchFamily="18" charset="0"/>
                <a:cs typeface="Times New Roman" panose="02020603050405020304" pitchFamily="18" charset="0"/>
              </a:rPr>
              <a:t>Best Practices </a:t>
            </a:r>
            <a:r>
              <a:rPr lang="fr-FR" b="1" dirty="0">
                <a:solidFill>
                  <a:schemeClr val="accent3"/>
                </a:solidFill>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
            </a:pPr>
            <a:endParaRPr lang="fr-FR" b="1" dirty="0">
              <a:solidFill>
                <a:schemeClr val="accent3"/>
              </a:solidFill>
              <a:latin typeface="Times New Roman" panose="02020603050405020304" pitchFamily="18" charset="0"/>
              <a:cs typeface="Times New Roman" panose="02020603050405020304" pitchFamily="18" charset="0"/>
            </a:endParaRPr>
          </a:p>
          <a:p>
            <a:pPr marL="800100" lvl="1" indent="-342900">
              <a:buFont typeface="+mj-lt"/>
              <a:buAutoNum type="arabicPeriod"/>
            </a:pPr>
            <a:r>
              <a:rPr lang="fr-FR" sz="1400" dirty="0">
                <a:latin typeface="Times New Roman" panose="02020603050405020304" pitchFamily="18" charset="0"/>
                <a:cs typeface="Times New Roman" panose="02020603050405020304" pitchFamily="18" charset="0"/>
              </a:rPr>
              <a:t>Initialisation of CUDA or </a:t>
            </a:r>
            <a:r>
              <a:rPr lang="fr-FR" sz="1400" dirty="0" err="1">
                <a:latin typeface="Times New Roman" panose="02020603050405020304" pitchFamily="18" charset="0"/>
                <a:cs typeface="Times New Roman" panose="02020603050405020304" pitchFamily="18" charset="0"/>
              </a:rPr>
              <a:t>OpenACC</a:t>
            </a:r>
            <a:endParaRPr lang="fr-FR" sz="1400" dirty="0">
              <a:latin typeface="Times New Roman" panose="02020603050405020304" pitchFamily="18" charset="0"/>
              <a:cs typeface="Times New Roman" panose="02020603050405020304" pitchFamily="18" charset="0"/>
            </a:endParaRPr>
          </a:p>
          <a:p>
            <a:pPr marL="800100" lvl="1" indent="-342900">
              <a:buFont typeface="+mj-lt"/>
              <a:buAutoNum type="arabicPeriod"/>
            </a:pPr>
            <a:r>
              <a:rPr lang="fr-FR" sz="1400" dirty="0" err="1">
                <a:latin typeface="Times New Roman" panose="02020603050405020304" pitchFamily="18" charset="0"/>
                <a:cs typeface="Times New Roman" panose="02020603050405020304" pitchFamily="18" charset="0"/>
              </a:rPr>
              <a:t>Choice</a:t>
            </a:r>
            <a:r>
              <a:rPr lang="fr-FR" sz="1400" dirty="0">
                <a:latin typeface="Times New Roman" panose="02020603050405020304" pitchFamily="18" charset="0"/>
                <a:cs typeface="Times New Roman" panose="02020603050405020304" pitchFamily="18" charset="0"/>
              </a:rPr>
              <a:t> of     the GPU </a:t>
            </a:r>
            <a:r>
              <a:rPr lang="fr-FR" sz="1400" dirty="0" err="1">
                <a:latin typeface="Times New Roman" panose="02020603050405020304" pitchFamily="18" charset="0"/>
                <a:cs typeface="Times New Roman" panose="02020603050405020304" pitchFamily="18" charset="0"/>
              </a:rPr>
              <a:t>which</a:t>
            </a:r>
            <a:r>
              <a:rPr lang="fr-FR" sz="1400" dirty="0">
                <a:latin typeface="Times New Roman" panose="02020603050405020304" pitchFamily="18" charset="0"/>
                <a:cs typeface="Times New Roman" panose="02020603050405020304" pitchFamily="18" charset="0"/>
              </a:rPr>
              <a:t> </a:t>
            </a:r>
            <a:r>
              <a:rPr lang="fr-FR" sz="1400" dirty="0" err="1">
                <a:latin typeface="Times New Roman" panose="02020603050405020304" pitchFamily="18" charset="0"/>
                <a:cs typeface="Times New Roman" panose="02020603050405020304" pitchFamily="18" charset="0"/>
              </a:rPr>
              <a:t>each</a:t>
            </a:r>
            <a:r>
              <a:rPr lang="fr-FR" sz="1400" dirty="0">
                <a:latin typeface="Times New Roman" panose="02020603050405020304" pitchFamily="18" charset="0"/>
                <a:cs typeface="Times New Roman" panose="02020603050405020304" pitchFamily="18" charset="0"/>
              </a:rPr>
              <a:t> MPI process </a:t>
            </a:r>
            <a:r>
              <a:rPr lang="fr-FR" sz="1400" dirty="0" err="1">
                <a:latin typeface="Times New Roman" panose="02020603050405020304" pitchFamily="18" charset="0"/>
                <a:cs typeface="Times New Roman" panose="02020603050405020304" pitchFamily="18" charset="0"/>
              </a:rPr>
              <a:t>should</a:t>
            </a:r>
            <a:r>
              <a:rPr lang="fr-FR" sz="1400" dirty="0">
                <a:latin typeface="Times New Roman" panose="02020603050405020304" pitchFamily="18" charset="0"/>
                <a:cs typeface="Times New Roman" panose="02020603050405020304" pitchFamily="18" charset="0"/>
              </a:rPr>
              <a:t> use (binding </a:t>
            </a:r>
            <a:r>
              <a:rPr lang="fr-FR" sz="1400" dirty="0" err="1">
                <a:latin typeface="Times New Roman" panose="02020603050405020304" pitchFamily="18" charset="0"/>
                <a:cs typeface="Times New Roman" panose="02020603050405020304" pitchFamily="18" charset="0"/>
              </a:rPr>
              <a:t>step</a:t>
            </a:r>
            <a:r>
              <a:rPr lang="fr-FR" sz="1400" dirty="0">
                <a:latin typeface="Times New Roman" panose="02020603050405020304" pitchFamily="18" charset="0"/>
                <a:cs typeface="Times New Roman" panose="02020603050405020304" pitchFamily="18" charset="0"/>
              </a:rPr>
              <a:t>)</a:t>
            </a:r>
          </a:p>
          <a:p>
            <a:pPr marL="800100" lvl="1" indent="-342900">
              <a:buFont typeface="+mj-lt"/>
              <a:buAutoNum type="arabicPeriod"/>
            </a:pPr>
            <a:r>
              <a:rPr lang="fr-FR" sz="1400" dirty="0">
                <a:latin typeface="Times New Roman" panose="02020603050405020304" pitchFamily="18" charset="0"/>
                <a:cs typeface="Times New Roman" panose="02020603050405020304" pitchFamily="18" charset="0"/>
              </a:rPr>
              <a:t>Initialisation of MPI</a:t>
            </a:r>
          </a:p>
          <a:p>
            <a:endParaRPr lang="fr-FR" b="1" dirty="0">
              <a:solidFill>
                <a:schemeClr val="accent3"/>
              </a:solidFill>
              <a:latin typeface="Times New Roman" panose="02020603050405020304" pitchFamily="18" charset="0"/>
              <a:cs typeface="Times New Roman" panose="02020603050405020304" pitchFamily="18" charset="0"/>
            </a:endParaRPr>
          </a:p>
          <a:p>
            <a:endParaRPr lang="fr-FR" b="1" dirty="0">
              <a:solidFill>
                <a:schemeClr val="accent3"/>
              </a:solidFill>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F8BF86FD-030C-FE9D-4539-785DFF698844}"/>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4E6CB4AB-E62B-700E-DED4-6E5F545881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 14" descr="Une image contenant texte, capture d’écran, Police&#10;&#10;Le contenu généré par l’IA peut être incorrect.">
            <a:extLst>
              <a:ext uri="{FF2B5EF4-FFF2-40B4-BE49-F238E27FC236}">
                <a16:creationId xmlns:a16="http://schemas.microsoft.com/office/drawing/2014/main" id="{C55AB7A0-FCC5-A2DD-B0CD-965F83FF9ACB}"/>
              </a:ext>
            </a:extLst>
          </p:cNvPr>
          <p:cNvPicPr>
            <a:picLocks noChangeAspect="1"/>
          </p:cNvPicPr>
          <p:nvPr/>
        </p:nvPicPr>
        <p:blipFill>
          <a:blip r:embed="rId4"/>
          <a:stretch>
            <a:fillRect/>
          </a:stretch>
        </p:blipFill>
        <p:spPr>
          <a:xfrm>
            <a:off x="6729313" y="1234440"/>
            <a:ext cx="5266945" cy="4389120"/>
          </a:xfrm>
          <a:prstGeom prst="rect">
            <a:avLst/>
          </a:prstGeom>
        </p:spPr>
      </p:pic>
    </p:spTree>
    <p:extLst>
      <p:ext uri="{BB962C8B-B14F-4D97-AF65-F5344CB8AC3E}">
        <p14:creationId xmlns:p14="http://schemas.microsoft.com/office/powerpoint/2010/main" val="99715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CE9C6-D3B9-4ACE-EEAD-7A4556622BE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15353E-69D6-E30D-4047-1B4EB4F538B5}"/>
              </a:ext>
            </a:extLst>
          </p:cNvPr>
          <p:cNvSpPr>
            <a:spLocks noGrp="1"/>
          </p:cNvSpPr>
          <p:nvPr>
            <p:ph type="title"/>
          </p:nvPr>
        </p:nvSpPr>
        <p:spPr>
          <a:xfrm>
            <a:off x="838200" y="379414"/>
            <a:ext cx="10515600" cy="682440"/>
          </a:xfrm>
        </p:spPr>
        <p:txBody>
          <a:bodyPr>
            <a:normAutofit/>
          </a:bodyPr>
          <a:lstStyle/>
          <a:p>
            <a:r>
              <a:rPr lang="en-US" sz="3200" b="1" dirty="0">
                <a:solidFill>
                  <a:srgbClr val="7CBF33"/>
                </a:solidFill>
                <a:latin typeface="Times New Roman" panose="02020603050405020304" pitchFamily="18" charset="0"/>
                <a:cs typeface="Times New Roman" panose="02020603050405020304" pitchFamily="18" charset="0"/>
              </a:rPr>
              <a:t>Conclusion and </a:t>
            </a:r>
            <a:r>
              <a:rPr lang="fr-FR" sz="3200" b="1" dirty="0">
                <a:solidFill>
                  <a:srgbClr val="7CBF33"/>
                </a:solidFill>
                <a:latin typeface="Times New Roman" panose="02020603050405020304" pitchFamily="18" charset="0"/>
                <a:cs typeface="Times New Roman" panose="02020603050405020304" pitchFamily="18" charset="0"/>
              </a:rPr>
              <a:t>Perspectives </a:t>
            </a:r>
            <a:r>
              <a:rPr lang="en-US" sz="3200" b="1" dirty="0">
                <a:solidFill>
                  <a:srgbClr val="7CBF33"/>
                </a:solidFill>
                <a:latin typeface="Times New Roman" panose="02020603050405020304" pitchFamily="18" charset="0"/>
                <a:cs typeface="Times New Roman" panose="02020603050405020304" pitchFamily="18" charset="0"/>
              </a:rPr>
              <a:t> </a:t>
            </a:r>
          </a:p>
        </p:txBody>
      </p:sp>
      <p:sp>
        <p:nvSpPr>
          <p:cNvPr id="8" name="ZoneTexte 7">
            <a:extLst>
              <a:ext uri="{FF2B5EF4-FFF2-40B4-BE49-F238E27FC236}">
                <a16:creationId xmlns:a16="http://schemas.microsoft.com/office/drawing/2014/main" id="{5ADA864F-D10C-D537-0782-19B74020D0F4}"/>
              </a:ext>
            </a:extLst>
          </p:cNvPr>
          <p:cNvSpPr txBox="1"/>
          <p:nvPr/>
        </p:nvSpPr>
        <p:spPr>
          <a:xfrm>
            <a:off x="838200" y="1413063"/>
            <a:ext cx="9438313" cy="4462760"/>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The New Standard for HPC</a:t>
            </a:r>
          </a:p>
          <a:p>
            <a:endParaRPr lang="en-US"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Problem: Host staging is slow, complex to code, and wastes CPU cycles.</a:t>
            </a:r>
          </a:p>
          <a:p>
            <a:pPr marL="285750" indent="-285750">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The Solution</a:t>
            </a:r>
            <a:r>
              <a:rPr lang="en-US" sz="1400" dirty="0">
                <a:latin typeface="Times New Roman" panose="02020603050405020304" pitchFamily="18" charset="0"/>
                <a:cs typeface="Times New Roman" panose="02020603050405020304" pitchFamily="18" charset="0"/>
              </a:rPr>
              <a:t>: </a:t>
            </a:r>
            <a:r>
              <a:rPr lang="en-US" sz="1400" b="1" dirty="0">
                <a:solidFill>
                  <a:srgbClr val="7CBF33"/>
                </a:solidFill>
                <a:latin typeface="Times New Roman" panose="02020603050405020304" pitchFamily="18" charset="0"/>
                <a:cs typeface="Times New Roman" panose="02020603050405020304" pitchFamily="18" charset="0"/>
              </a:rPr>
              <a:t>CUDA-aware MPI + UVA </a:t>
            </a:r>
            <a:r>
              <a:rPr lang="en-US" sz="1400" dirty="0">
                <a:latin typeface="Times New Roman" panose="02020603050405020304" pitchFamily="18" charset="0"/>
                <a:cs typeface="Times New Roman" panose="02020603050405020304" pitchFamily="18" charset="0"/>
              </a:rPr>
              <a:t>simplifies code and unlocks hardware acceleration.</a:t>
            </a:r>
          </a:p>
          <a:p>
            <a:pPr marL="285750" indent="-285750">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The Benefit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 RDMA provides a 5x to 6x increase in bandwidth on modern hardware like H100.</a:t>
            </a:r>
          </a:p>
          <a:p>
            <a:pPr marL="285750" indent="-285750">
              <a:lnSpc>
                <a:spcPct val="150000"/>
              </a:lnSpc>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Final Word</a:t>
            </a:r>
            <a:r>
              <a:rPr lang="en-US" sz="1400" dirty="0">
                <a:latin typeface="Times New Roman" panose="02020603050405020304" pitchFamily="18" charset="0"/>
                <a:cs typeface="Times New Roman" panose="02020603050405020304" pitchFamily="18" charset="0"/>
              </a:rPr>
              <a:t>: CUDA-aware MPI is no longer an "option" but a requirement for modern AI and HPC workloads.</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fr-FR" b="1" dirty="0">
                <a:latin typeface="Times New Roman" panose="02020603050405020304" pitchFamily="18" charset="0"/>
                <a:cs typeface="Times New Roman" panose="02020603050405020304" pitchFamily="18" charset="0"/>
              </a:rPr>
              <a:t>Références </a:t>
            </a:r>
            <a:endParaRPr lang="en-US" b="1" dirty="0">
              <a:latin typeface="Times New Roman" panose="02020603050405020304" pitchFamily="18" charset="0"/>
              <a:cs typeface="Times New Roman" panose="02020603050405020304" pitchFamily="18" charset="0"/>
            </a:endParaRPr>
          </a:p>
          <a:p>
            <a:endParaRPr lang="en-US" b="1" dirty="0"/>
          </a:p>
          <a:p>
            <a:r>
              <a:rPr lang="en-US" sz="1400" dirty="0">
                <a:latin typeface="Times New Roman" panose="02020603050405020304" pitchFamily="18" charset="0"/>
                <a:cs typeface="Times New Roman" panose="02020603050405020304" pitchFamily="18" charset="0"/>
              </a:rPr>
              <a:t>**** NVIDIA Developer: MPI Solutions for GPUs.</a:t>
            </a:r>
          </a:p>
          <a:p>
            <a:r>
              <a:rPr lang="en-US" sz="1400" dirty="0">
                <a:latin typeface="Times New Roman" panose="02020603050405020304" pitchFamily="18" charset="0"/>
                <a:cs typeface="Times New Roman" panose="02020603050405020304" pitchFamily="18" charset="0"/>
              </a:rPr>
              <a:t>**** Jiri Kraus (NVIDIA): An Introduction to CUDA-Aware MPI.</a:t>
            </a:r>
          </a:p>
          <a:p>
            <a:r>
              <a:rPr lang="en-US" sz="1400" dirty="0">
                <a:latin typeface="Times New Roman" panose="02020603050405020304" pitchFamily="18" charset="0"/>
                <a:cs typeface="Times New Roman" panose="02020603050405020304" pitchFamily="18" charset="0"/>
              </a:rPr>
              <a:t>**** Aditya </a:t>
            </a:r>
            <a:r>
              <a:rPr lang="en-US" sz="1400" dirty="0" err="1">
                <a:latin typeface="Times New Roman" panose="02020603050405020304" pitchFamily="18" charset="0"/>
                <a:cs typeface="Times New Roman" panose="02020603050405020304" pitchFamily="18" charset="0"/>
              </a:rPr>
              <a:t>Ujeniya</a:t>
            </a:r>
            <a:r>
              <a:rPr lang="en-US" sz="1400" dirty="0">
                <a:latin typeface="Times New Roman" panose="02020603050405020304" pitchFamily="18" charset="0"/>
                <a:cs typeface="Times New Roman" panose="02020603050405020304" pitchFamily="18" charset="0"/>
              </a:rPr>
              <a:t>: CUDA-Aware-MPI: Understanding Node Topology.</a:t>
            </a:r>
          </a:p>
          <a:p>
            <a:r>
              <a:rPr lang="en-US" sz="1400" dirty="0">
                <a:latin typeface="Times New Roman" panose="02020603050405020304" pitchFamily="18" charset="0"/>
                <a:cs typeface="Times New Roman" panose="02020603050405020304" pitchFamily="18" charset="0"/>
              </a:rPr>
              <a:t>**** IDRIS/Jean Zay Documentation: CUDA-aware MPI and </a:t>
            </a:r>
            <a:r>
              <a:rPr lang="en-US" sz="1400" dirty="0" err="1">
                <a:latin typeface="Times New Roman" panose="02020603050405020304" pitchFamily="18" charset="0"/>
                <a:cs typeface="Times New Roman" panose="02020603050405020304" pitchFamily="18" charset="0"/>
              </a:rPr>
              <a:t>GPUDirect</a:t>
            </a:r>
            <a:r>
              <a:rPr lang="en-US" sz="1400" dirty="0">
                <a:latin typeface="Times New Roman" panose="02020603050405020304" pitchFamily="18" charset="0"/>
                <a:cs typeface="Times New Roman" panose="02020603050405020304" pitchFamily="18" charset="0"/>
              </a:rPr>
              <a:t>.</a:t>
            </a:r>
          </a:p>
          <a:p>
            <a:endParaRPr lang="fr-FR" b="1" dirty="0">
              <a:solidFill>
                <a:schemeClr val="accent3"/>
              </a:solidFill>
            </a:endParaRPr>
          </a:p>
          <a:p>
            <a:endParaRPr lang="fr-FR" b="1" dirty="0">
              <a:solidFill>
                <a:schemeClr val="accent3"/>
              </a:solidFill>
            </a:endParaRPr>
          </a:p>
        </p:txBody>
      </p:sp>
      <p:pic>
        <p:nvPicPr>
          <p:cNvPr id="7" name="Image 6">
            <a:extLst>
              <a:ext uri="{FF2B5EF4-FFF2-40B4-BE49-F238E27FC236}">
                <a16:creationId xmlns:a16="http://schemas.microsoft.com/office/drawing/2014/main" id="{0C797688-A29E-2019-AF20-6579EF94EEB5}"/>
              </a:ext>
            </a:extLst>
          </p:cNvPr>
          <p:cNvPicPr>
            <a:picLocks noChangeAspect="1"/>
          </p:cNvPicPr>
          <p:nvPr/>
        </p:nvPicPr>
        <p:blipFill>
          <a:blip r:embed="rId2"/>
          <a:srcRect l="5895" t="28644" r="6133" b="29623"/>
          <a:stretch>
            <a:fillRect/>
          </a:stretch>
        </p:blipFill>
        <p:spPr>
          <a:xfrm>
            <a:off x="9529893" y="6336874"/>
            <a:ext cx="1082180" cy="385332"/>
          </a:xfrm>
          <a:prstGeom prst="rect">
            <a:avLst/>
          </a:prstGeom>
        </p:spPr>
      </p:pic>
      <p:pic>
        <p:nvPicPr>
          <p:cNvPr id="9" name="Picture 10" descr="Download NVIDIA Logo in SVG Vector or PNG File Format - Logo.wine">
            <a:extLst>
              <a:ext uri="{FF2B5EF4-FFF2-40B4-BE49-F238E27FC236}">
                <a16:creationId xmlns:a16="http://schemas.microsoft.com/office/drawing/2014/main" id="{A36FA031-616B-8397-FD52-1183C5A1FD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030" t="12375" r="16445"/>
          <a:stretch>
            <a:fillRect/>
          </a:stretch>
        </p:blipFill>
        <p:spPr bwMode="auto">
          <a:xfrm>
            <a:off x="11190914" y="6196006"/>
            <a:ext cx="805344" cy="667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511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rot="5106186">
            <a:off x="514190" y="-135400"/>
            <a:ext cx="74388"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4" name="AutoShape 4"/>
          <p:cNvSpPr/>
          <p:nvPr/>
        </p:nvSpPr>
        <p:spPr>
          <a:xfrm rot="5106186">
            <a:off x="11675430" y="-135400"/>
            <a:ext cx="74388"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5" name="AutoShape 5"/>
          <p:cNvSpPr/>
          <p:nvPr/>
        </p:nvSpPr>
        <p:spPr>
          <a:xfrm rot="293813">
            <a:off x="-169882" y="1700808"/>
            <a:ext cx="74388"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6" name="AutoShape 6"/>
          <p:cNvSpPr/>
          <p:nvPr/>
        </p:nvSpPr>
        <p:spPr>
          <a:xfrm rot="293813">
            <a:off x="-169882" y="6093296"/>
            <a:ext cx="74388"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7" name="AutoShape 7"/>
          <p:cNvSpPr/>
          <p:nvPr/>
        </p:nvSpPr>
        <p:spPr>
          <a:xfrm rot="5121990">
            <a:off x="6416513" y="-135400"/>
            <a:ext cx="78607"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8" name="AutoShape 8"/>
          <p:cNvSpPr/>
          <p:nvPr/>
        </p:nvSpPr>
        <p:spPr>
          <a:xfrm rot="5121990">
            <a:off x="5768665" y="-135400"/>
            <a:ext cx="78607"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9" name="AutoShape 9"/>
          <p:cNvSpPr/>
          <p:nvPr/>
        </p:nvSpPr>
        <p:spPr>
          <a:xfrm rot="5121990">
            <a:off x="8360953" y="-135400"/>
            <a:ext cx="78607" cy="0"/>
          </a:xfrm>
          <a:prstGeom prst="line">
            <a:avLst/>
          </a:prstGeom>
          <a:ln w="9525" cap="rnd">
            <a:solidFill>
              <a:srgbClr val="51585D"/>
            </a:solidFill>
            <a:prstDash val="solid"/>
            <a:headEnd type="none" w="sm" len="sm"/>
            <a:tailEnd type="none" w="sm" len="sm"/>
          </a:ln>
        </p:spPr>
        <p:txBody>
          <a:bodyPr/>
          <a:lstStyle/>
          <a:p>
            <a:endParaRPr lang="fr-FR" sz="1200"/>
          </a:p>
        </p:txBody>
      </p:sp>
      <p:sp>
        <p:nvSpPr>
          <p:cNvPr id="10" name="AutoShape 10"/>
          <p:cNvSpPr/>
          <p:nvPr/>
        </p:nvSpPr>
        <p:spPr>
          <a:xfrm rot="5121990">
            <a:off x="7713103" y="-135400"/>
            <a:ext cx="78607" cy="0"/>
          </a:xfrm>
          <a:prstGeom prst="line">
            <a:avLst/>
          </a:prstGeom>
          <a:ln w="9525" cap="rnd">
            <a:solidFill>
              <a:srgbClr val="51585D"/>
            </a:solidFill>
            <a:prstDash val="solid"/>
            <a:headEnd type="none" w="sm" len="sm"/>
            <a:tailEnd type="none" w="sm" len="sm"/>
          </a:ln>
        </p:spPr>
        <p:txBody>
          <a:bodyPr/>
          <a:lstStyle/>
          <a:p>
            <a:endParaRPr lang="fr-FR" sz="1200"/>
          </a:p>
        </p:txBody>
      </p:sp>
      <p:sp>
        <p:nvSpPr>
          <p:cNvPr id="11" name="AutoShape 11"/>
          <p:cNvSpPr/>
          <p:nvPr/>
        </p:nvSpPr>
        <p:spPr>
          <a:xfrm rot="5121990">
            <a:off x="4472521" y="-135400"/>
            <a:ext cx="78607" cy="0"/>
          </a:xfrm>
          <a:prstGeom prst="line">
            <a:avLst/>
          </a:prstGeom>
          <a:ln w="9525" cap="rnd">
            <a:solidFill>
              <a:srgbClr val="51585D"/>
            </a:solidFill>
            <a:prstDash val="solid"/>
            <a:headEnd type="none" w="sm" len="sm"/>
            <a:tailEnd type="none" w="sm" len="sm"/>
          </a:ln>
        </p:spPr>
        <p:txBody>
          <a:bodyPr/>
          <a:lstStyle/>
          <a:p>
            <a:endParaRPr lang="fr-FR" sz="1200"/>
          </a:p>
        </p:txBody>
      </p:sp>
      <p:sp>
        <p:nvSpPr>
          <p:cNvPr id="12" name="AutoShape 12"/>
          <p:cNvSpPr/>
          <p:nvPr/>
        </p:nvSpPr>
        <p:spPr>
          <a:xfrm rot="5121990">
            <a:off x="3824671" y="-135400"/>
            <a:ext cx="78607" cy="0"/>
          </a:xfrm>
          <a:prstGeom prst="line">
            <a:avLst/>
          </a:prstGeom>
          <a:ln w="9525" cap="rnd">
            <a:solidFill>
              <a:srgbClr val="51585D"/>
            </a:solidFill>
            <a:prstDash val="solid"/>
            <a:headEnd type="none" w="sm" len="sm"/>
            <a:tailEnd type="none" w="sm" len="sm"/>
          </a:ln>
        </p:spPr>
        <p:txBody>
          <a:bodyPr/>
          <a:lstStyle/>
          <a:p>
            <a:endParaRPr lang="fr-FR" sz="1200"/>
          </a:p>
        </p:txBody>
      </p:sp>
      <p:sp>
        <p:nvSpPr>
          <p:cNvPr id="13" name="AutoShape 13"/>
          <p:cNvSpPr/>
          <p:nvPr/>
        </p:nvSpPr>
        <p:spPr>
          <a:xfrm rot="5121990">
            <a:off x="9369065" y="-135392"/>
            <a:ext cx="78607" cy="0"/>
          </a:xfrm>
          <a:prstGeom prst="line">
            <a:avLst/>
          </a:prstGeom>
          <a:ln w="9525" cap="rnd">
            <a:solidFill>
              <a:srgbClr val="888E94"/>
            </a:solidFill>
            <a:prstDash val="solid"/>
            <a:headEnd type="none" w="sm" len="sm"/>
            <a:tailEnd type="none" w="sm" len="sm"/>
          </a:ln>
        </p:spPr>
        <p:txBody>
          <a:bodyPr/>
          <a:lstStyle/>
          <a:p>
            <a:endParaRPr lang="fr-FR" sz="1200"/>
          </a:p>
        </p:txBody>
      </p:sp>
      <p:sp>
        <p:nvSpPr>
          <p:cNvPr id="14" name="AutoShape 14"/>
          <p:cNvSpPr/>
          <p:nvPr/>
        </p:nvSpPr>
        <p:spPr>
          <a:xfrm rot="5121990">
            <a:off x="8721215" y="-135392"/>
            <a:ext cx="78607" cy="0"/>
          </a:xfrm>
          <a:prstGeom prst="line">
            <a:avLst/>
          </a:prstGeom>
          <a:ln w="9525" cap="rnd">
            <a:solidFill>
              <a:srgbClr val="888E94"/>
            </a:solidFill>
            <a:prstDash val="solid"/>
            <a:headEnd type="none" w="sm" len="sm"/>
            <a:tailEnd type="none" w="sm" len="sm"/>
          </a:ln>
        </p:spPr>
        <p:txBody>
          <a:bodyPr/>
          <a:lstStyle/>
          <a:p>
            <a:endParaRPr lang="fr-FR" sz="1200"/>
          </a:p>
        </p:txBody>
      </p:sp>
      <p:sp>
        <p:nvSpPr>
          <p:cNvPr id="15" name="AutoShape 15"/>
          <p:cNvSpPr/>
          <p:nvPr/>
        </p:nvSpPr>
        <p:spPr>
          <a:xfrm rot="5121990">
            <a:off x="3464185" y="-135392"/>
            <a:ext cx="78607" cy="0"/>
          </a:xfrm>
          <a:prstGeom prst="line">
            <a:avLst/>
          </a:prstGeom>
          <a:ln w="9525" cap="rnd">
            <a:solidFill>
              <a:srgbClr val="888E94"/>
            </a:solidFill>
            <a:prstDash val="solid"/>
            <a:headEnd type="none" w="sm" len="sm"/>
            <a:tailEnd type="none" w="sm" len="sm"/>
          </a:ln>
        </p:spPr>
        <p:txBody>
          <a:bodyPr/>
          <a:lstStyle/>
          <a:p>
            <a:endParaRPr lang="fr-FR" sz="1200"/>
          </a:p>
        </p:txBody>
      </p:sp>
      <p:sp>
        <p:nvSpPr>
          <p:cNvPr id="16" name="AutoShape 16"/>
          <p:cNvSpPr/>
          <p:nvPr/>
        </p:nvSpPr>
        <p:spPr>
          <a:xfrm rot="5121990">
            <a:off x="2816337" y="-135392"/>
            <a:ext cx="78607" cy="0"/>
          </a:xfrm>
          <a:prstGeom prst="line">
            <a:avLst/>
          </a:prstGeom>
          <a:ln w="9525" cap="rnd">
            <a:solidFill>
              <a:srgbClr val="888E94"/>
            </a:solidFill>
            <a:prstDash val="solid"/>
            <a:headEnd type="none" w="sm" len="sm"/>
            <a:tailEnd type="none" w="sm" len="sm"/>
          </a:ln>
        </p:spPr>
        <p:txBody>
          <a:bodyPr/>
          <a:lstStyle/>
          <a:p>
            <a:endParaRPr lang="fr-FR" sz="1200"/>
          </a:p>
        </p:txBody>
      </p:sp>
      <p:sp>
        <p:nvSpPr>
          <p:cNvPr id="20" name="AutoShape 20"/>
          <p:cNvSpPr/>
          <p:nvPr/>
        </p:nvSpPr>
        <p:spPr>
          <a:xfrm rot="18095">
            <a:off x="-1973467" y="2744924"/>
            <a:ext cx="1809550"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21" name="TextBox 21"/>
          <p:cNvSpPr txBox="1"/>
          <p:nvPr/>
        </p:nvSpPr>
        <p:spPr>
          <a:xfrm>
            <a:off x="-1968692" y="2756224"/>
            <a:ext cx="1512169"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Two-line title (1.90)</a:t>
            </a:r>
          </a:p>
        </p:txBody>
      </p:sp>
      <p:sp>
        <p:nvSpPr>
          <p:cNvPr id="22" name="AutoShape 22"/>
          <p:cNvSpPr/>
          <p:nvPr/>
        </p:nvSpPr>
        <p:spPr>
          <a:xfrm rot="17742">
            <a:off x="-1973466" y="1916832"/>
            <a:ext cx="1845549"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23" name="TextBox 23"/>
          <p:cNvSpPr txBox="1"/>
          <p:nvPr/>
        </p:nvSpPr>
        <p:spPr>
          <a:xfrm>
            <a:off x="-1968692" y="1928132"/>
            <a:ext cx="1512169"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Single-line title (4.20)</a:t>
            </a:r>
          </a:p>
        </p:txBody>
      </p:sp>
      <p:sp>
        <p:nvSpPr>
          <p:cNvPr id="24" name="AutoShape 24"/>
          <p:cNvSpPr/>
          <p:nvPr/>
        </p:nvSpPr>
        <p:spPr>
          <a:xfrm rot="18095">
            <a:off x="-1973467" y="4401108"/>
            <a:ext cx="1809550"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25" name="TextBox 25"/>
          <p:cNvSpPr txBox="1"/>
          <p:nvPr/>
        </p:nvSpPr>
        <p:spPr>
          <a:xfrm>
            <a:off x="-1968692" y="4412408"/>
            <a:ext cx="1512169"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Four-line title (2.70)</a:t>
            </a:r>
          </a:p>
        </p:txBody>
      </p:sp>
      <p:sp>
        <p:nvSpPr>
          <p:cNvPr id="26" name="AutoShape 26"/>
          <p:cNvSpPr/>
          <p:nvPr/>
        </p:nvSpPr>
        <p:spPr>
          <a:xfrm rot="18095">
            <a:off x="-1973467" y="3573016"/>
            <a:ext cx="1809550"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27" name="TextBox 27"/>
          <p:cNvSpPr txBox="1"/>
          <p:nvPr/>
        </p:nvSpPr>
        <p:spPr>
          <a:xfrm>
            <a:off x="-1968692" y="3584316"/>
            <a:ext cx="1512169"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Three-line title (0.40)</a:t>
            </a:r>
          </a:p>
        </p:txBody>
      </p:sp>
      <p:sp>
        <p:nvSpPr>
          <p:cNvPr id="28" name="TextBox 28"/>
          <p:cNvSpPr txBox="1"/>
          <p:nvPr/>
        </p:nvSpPr>
        <p:spPr>
          <a:xfrm>
            <a:off x="-1932688" y="1472084"/>
            <a:ext cx="1836000"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Position of the lower bar: </a:t>
            </a:r>
          </a:p>
        </p:txBody>
      </p:sp>
      <p:grpSp>
        <p:nvGrpSpPr>
          <p:cNvPr id="29" name="Group 29"/>
          <p:cNvGrpSpPr/>
          <p:nvPr/>
        </p:nvGrpSpPr>
        <p:grpSpPr>
          <a:xfrm>
            <a:off x="803660" y="2744924"/>
            <a:ext cx="1908000" cy="100800"/>
            <a:chOff x="0" y="0"/>
            <a:chExt cx="3816000" cy="201600"/>
          </a:xfrm>
        </p:grpSpPr>
        <p:sp>
          <p:nvSpPr>
            <p:cNvPr id="30" name="Freeform 30"/>
            <p:cNvSpPr/>
            <p:nvPr/>
          </p:nvSpPr>
          <p:spPr>
            <a:xfrm>
              <a:off x="0" y="0"/>
              <a:ext cx="3815969" cy="201549"/>
            </a:xfrm>
            <a:custGeom>
              <a:avLst/>
              <a:gdLst/>
              <a:ahLst/>
              <a:cxnLst/>
              <a:rect l="l" t="t" r="r" b="b"/>
              <a:pathLst>
                <a:path w="3815969" h="201549">
                  <a:moveTo>
                    <a:pt x="0" y="0"/>
                  </a:moveTo>
                  <a:lnTo>
                    <a:pt x="3815969" y="0"/>
                  </a:lnTo>
                  <a:lnTo>
                    <a:pt x="3815969" y="201549"/>
                  </a:lnTo>
                  <a:lnTo>
                    <a:pt x="0" y="201549"/>
                  </a:lnTo>
                  <a:close/>
                </a:path>
              </a:pathLst>
            </a:custGeom>
            <a:solidFill>
              <a:srgbClr val="FFFFFF"/>
            </a:solidFill>
          </p:spPr>
          <p:txBody>
            <a:bodyPr/>
            <a:lstStyle/>
            <a:p>
              <a:endParaRPr lang="fr-FR" sz="1200"/>
            </a:p>
          </p:txBody>
        </p:sp>
      </p:grpSp>
      <p:sp>
        <p:nvSpPr>
          <p:cNvPr id="31" name="ZoneTexte 30">
            <a:extLst>
              <a:ext uri="{FF2B5EF4-FFF2-40B4-BE49-F238E27FC236}">
                <a16:creationId xmlns:a16="http://schemas.microsoft.com/office/drawing/2014/main" id="{25BFEFFA-CB87-F5E0-27A8-0115607DC6C9}"/>
              </a:ext>
            </a:extLst>
          </p:cNvPr>
          <p:cNvSpPr txBox="1"/>
          <p:nvPr/>
        </p:nvSpPr>
        <p:spPr>
          <a:xfrm>
            <a:off x="803660" y="1472084"/>
            <a:ext cx="2048805" cy="707886"/>
          </a:xfrm>
          <a:prstGeom prst="rect">
            <a:avLst/>
          </a:prstGeom>
          <a:noFill/>
        </p:spPr>
        <p:txBody>
          <a:bodyPr wrap="square" rtlCol="0">
            <a:spAutoFit/>
          </a:bodyPr>
          <a:lstStyle/>
          <a:p>
            <a:r>
              <a:rPr lang="fr-FR" sz="4000" dirty="0">
                <a:latin typeface="Times New Roman" panose="02020603050405020304" pitchFamily="18" charset="0"/>
                <a:cs typeface="Times New Roman" panose="02020603050405020304" pitchFamily="18" charset="0"/>
              </a:rPr>
              <a:t>Merci</a:t>
            </a:r>
          </a:p>
        </p:txBody>
      </p:sp>
      <p:pic>
        <p:nvPicPr>
          <p:cNvPr id="9220" name="Picture 4" descr="2560x1600 HD Pics Intel Nvidia Style Gd Raged Discussion Wallpaper .">
            <a:extLst>
              <a:ext uri="{FF2B5EF4-FFF2-40B4-BE49-F238E27FC236}">
                <a16:creationId xmlns:a16="http://schemas.microsoft.com/office/drawing/2014/main" id="{0283C144-6A57-452A-FF05-D790EBA287B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6000" y="-55965"/>
            <a:ext cx="12191999" cy="7310784"/>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716A62A8-2487-447A-F75F-B3762DF8EF2F}"/>
              </a:ext>
            </a:extLst>
          </p:cNvPr>
          <p:cNvSpPr/>
          <p:nvPr/>
        </p:nvSpPr>
        <p:spPr>
          <a:xfrm>
            <a:off x="3053565" y="2795311"/>
            <a:ext cx="6084870" cy="12026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B6458-122F-79D8-5815-8D996A08DE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B3D055-1B9F-BA4B-B443-6419E01AD259}"/>
              </a:ext>
            </a:extLst>
          </p:cNvPr>
          <p:cNvSpPr/>
          <p:nvPr/>
        </p:nvSpPr>
        <p:spPr>
          <a:xfrm>
            <a:off x="10550803" y="6525000"/>
            <a:ext cx="1161197" cy="144000"/>
          </a:xfrm>
          <a:custGeom>
            <a:avLst/>
            <a:gdLst/>
            <a:ahLst/>
            <a:cxnLst/>
            <a:rect l="l" t="t" r="r" b="b"/>
            <a:pathLst>
              <a:path w="1741795" h="216000">
                <a:moveTo>
                  <a:pt x="0" y="0"/>
                </a:moveTo>
                <a:lnTo>
                  <a:pt x="1741796" y="0"/>
                </a:lnTo>
                <a:lnTo>
                  <a:pt x="1741796" y="216000"/>
                </a:lnTo>
                <a:lnTo>
                  <a:pt x="0" y="216000"/>
                </a:lnTo>
                <a:lnTo>
                  <a:pt x="0" y="0"/>
                </a:lnTo>
                <a:close/>
              </a:path>
            </a:pathLst>
          </a:custGeom>
          <a:blipFill>
            <a:blip r:embed="rId2">
              <a:extLst>
                <a:ext uri="{96DAC541-7B7A-43D3-8B79-37D633B846F1}">
                  <asvg:svgBlip xmlns:asvg="http://schemas.microsoft.com/office/drawing/2016/SVG/main" r:embed="rId3"/>
                </a:ext>
              </a:extLst>
            </a:blip>
            <a:stretch>
              <a:fillRect t="-674" b="-674"/>
            </a:stretch>
          </a:blipFill>
        </p:spPr>
        <p:txBody>
          <a:bodyPr/>
          <a:lstStyle/>
          <a:p>
            <a:endParaRPr lang="fr-FR" sz="1200"/>
          </a:p>
        </p:txBody>
      </p:sp>
      <p:sp>
        <p:nvSpPr>
          <p:cNvPr id="3" name="AutoShape 3">
            <a:extLst>
              <a:ext uri="{FF2B5EF4-FFF2-40B4-BE49-F238E27FC236}">
                <a16:creationId xmlns:a16="http://schemas.microsoft.com/office/drawing/2014/main" id="{0E1AC435-2D7C-EC4D-B1A9-F06F21B72D87}"/>
              </a:ext>
            </a:extLst>
          </p:cNvPr>
          <p:cNvSpPr/>
          <p:nvPr/>
        </p:nvSpPr>
        <p:spPr>
          <a:xfrm rot="5106186">
            <a:off x="514190" y="-135400"/>
            <a:ext cx="74388"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4" name="AutoShape 4">
            <a:extLst>
              <a:ext uri="{FF2B5EF4-FFF2-40B4-BE49-F238E27FC236}">
                <a16:creationId xmlns:a16="http://schemas.microsoft.com/office/drawing/2014/main" id="{3923013F-0A6D-939D-ED63-5A53E0328AF1}"/>
              </a:ext>
            </a:extLst>
          </p:cNvPr>
          <p:cNvSpPr/>
          <p:nvPr/>
        </p:nvSpPr>
        <p:spPr>
          <a:xfrm rot="5106186">
            <a:off x="11675430" y="-135400"/>
            <a:ext cx="74388"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5" name="AutoShape 5">
            <a:extLst>
              <a:ext uri="{FF2B5EF4-FFF2-40B4-BE49-F238E27FC236}">
                <a16:creationId xmlns:a16="http://schemas.microsoft.com/office/drawing/2014/main" id="{22E7B601-D54B-A3BA-FE40-4F9764C9DE1C}"/>
              </a:ext>
            </a:extLst>
          </p:cNvPr>
          <p:cNvSpPr/>
          <p:nvPr/>
        </p:nvSpPr>
        <p:spPr>
          <a:xfrm rot="293813">
            <a:off x="-169882" y="1700808"/>
            <a:ext cx="74388"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6" name="AutoShape 6">
            <a:extLst>
              <a:ext uri="{FF2B5EF4-FFF2-40B4-BE49-F238E27FC236}">
                <a16:creationId xmlns:a16="http://schemas.microsoft.com/office/drawing/2014/main" id="{76EAB024-4E46-CC6D-C3F3-2CFA9F238633}"/>
              </a:ext>
            </a:extLst>
          </p:cNvPr>
          <p:cNvSpPr/>
          <p:nvPr/>
        </p:nvSpPr>
        <p:spPr>
          <a:xfrm rot="293813">
            <a:off x="-169882" y="6093296"/>
            <a:ext cx="74388"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7" name="AutoShape 7">
            <a:extLst>
              <a:ext uri="{FF2B5EF4-FFF2-40B4-BE49-F238E27FC236}">
                <a16:creationId xmlns:a16="http://schemas.microsoft.com/office/drawing/2014/main" id="{8F1A95E6-EA37-0D87-6B2F-D2C42BFB936F}"/>
              </a:ext>
            </a:extLst>
          </p:cNvPr>
          <p:cNvSpPr/>
          <p:nvPr/>
        </p:nvSpPr>
        <p:spPr>
          <a:xfrm rot="5121990">
            <a:off x="6416513" y="-135400"/>
            <a:ext cx="78607"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8" name="AutoShape 8">
            <a:extLst>
              <a:ext uri="{FF2B5EF4-FFF2-40B4-BE49-F238E27FC236}">
                <a16:creationId xmlns:a16="http://schemas.microsoft.com/office/drawing/2014/main" id="{C114E615-6977-DBF4-08E1-DF1F88B6D13C}"/>
              </a:ext>
            </a:extLst>
          </p:cNvPr>
          <p:cNvSpPr/>
          <p:nvPr/>
        </p:nvSpPr>
        <p:spPr>
          <a:xfrm rot="5121990">
            <a:off x="5768665" y="-135400"/>
            <a:ext cx="78607"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9" name="AutoShape 9">
            <a:extLst>
              <a:ext uri="{FF2B5EF4-FFF2-40B4-BE49-F238E27FC236}">
                <a16:creationId xmlns:a16="http://schemas.microsoft.com/office/drawing/2014/main" id="{D08D072B-6356-80F5-0E74-BAE9FA10129C}"/>
              </a:ext>
            </a:extLst>
          </p:cNvPr>
          <p:cNvSpPr/>
          <p:nvPr/>
        </p:nvSpPr>
        <p:spPr>
          <a:xfrm rot="5121990">
            <a:off x="8360953" y="-135400"/>
            <a:ext cx="78607" cy="0"/>
          </a:xfrm>
          <a:prstGeom prst="line">
            <a:avLst/>
          </a:prstGeom>
          <a:ln w="9525" cap="rnd">
            <a:solidFill>
              <a:srgbClr val="51585D"/>
            </a:solidFill>
            <a:prstDash val="solid"/>
            <a:headEnd type="none" w="sm" len="sm"/>
            <a:tailEnd type="none" w="sm" len="sm"/>
          </a:ln>
        </p:spPr>
        <p:txBody>
          <a:bodyPr/>
          <a:lstStyle/>
          <a:p>
            <a:endParaRPr lang="fr-FR" sz="1200"/>
          </a:p>
        </p:txBody>
      </p:sp>
      <p:sp>
        <p:nvSpPr>
          <p:cNvPr id="10" name="AutoShape 10">
            <a:extLst>
              <a:ext uri="{FF2B5EF4-FFF2-40B4-BE49-F238E27FC236}">
                <a16:creationId xmlns:a16="http://schemas.microsoft.com/office/drawing/2014/main" id="{AFF58E2E-E5CC-0AC1-6EAF-2BA992DB9650}"/>
              </a:ext>
            </a:extLst>
          </p:cNvPr>
          <p:cNvSpPr/>
          <p:nvPr/>
        </p:nvSpPr>
        <p:spPr>
          <a:xfrm rot="5121990">
            <a:off x="7713103" y="-135400"/>
            <a:ext cx="78607" cy="0"/>
          </a:xfrm>
          <a:prstGeom prst="line">
            <a:avLst/>
          </a:prstGeom>
          <a:ln w="9525" cap="rnd">
            <a:solidFill>
              <a:srgbClr val="51585D"/>
            </a:solidFill>
            <a:prstDash val="solid"/>
            <a:headEnd type="none" w="sm" len="sm"/>
            <a:tailEnd type="none" w="sm" len="sm"/>
          </a:ln>
        </p:spPr>
        <p:txBody>
          <a:bodyPr/>
          <a:lstStyle/>
          <a:p>
            <a:endParaRPr lang="fr-FR" sz="1200"/>
          </a:p>
        </p:txBody>
      </p:sp>
      <p:sp>
        <p:nvSpPr>
          <p:cNvPr id="11" name="AutoShape 11">
            <a:extLst>
              <a:ext uri="{FF2B5EF4-FFF2-40B4-BE49-F238E27FC236}">
                <a16:creationId xmlns:a16="http://schemas.microsoft.com/office/drawing/2014/main" id="{AEBCD7C4-4D8C-0052-7D09-11FE8EEC6142}"/>
              </a:ext>
            </a:extLst>
          </p:cNvPr>
          <p:cNvSpPr/>
          <p:nvPr/>
        </p:nvSpPr>
        <p:spPr>
          <a:xfrm rot="5121990">
            <a:off x="4472521" y="-135400"/>
            <a:ext cx="78607" cy="0"/>
          </a:xfrm>
          <a:prstGeom prst="line">
            <a:avLst/>
          </a:prstGeom>
          <a:ln w="9525" cap="rnd">
            <a:solidFill>
              <a:srgbClr val="51585D"/>
            </a:solidFill>
            <a:prstDash val="solid"/>
            <a:headEnd type="none" w="sm" len="sm"/>
            <a:tailEnd type="none" w="sm" len="sm"/>
          </a:ln>
        </p:spPr>
        <p:txBody>
          <a:bodyPr/>
          <a:lstStyle/>
          <a:p>
            <a:endParaRPr lang="fr-FR" sz="1200"/>
          </a:p>
        </p:txBody>
      </p:sp>
      <p:sp>
        <p:nvSpPr>
          <p:cNvPr id="12" name="AutoShape 12">
            <a:extLst>
              <a:ext uri="{FF2B5EF4-FFF2-40B4-BE49-F238E27FC236}">
                <a16:creationId xmlns:a16="http://schemas.microsoft.com/office/drawing/2014/main" id="{9E5EFBEB-EDDE-4692-88B0-CDBC4CB5F04E}"/>
              </a:ext>
            </a:extLst>
          </p:cNvPr>
          <p:cNvSpPr/>
          <p:nvPr/>
        </p:nvSpPr>
        <p:spPr>
          <a:xfrm rot="5121990">
            <a:off x="3824671" y="-135400"/>
            <a:ext cx="78607" cy="0"/>
          </a:xfrm>
          <a:prstGeom prst="line">
            <a:avLst/>
          </a:prstGeom>
          <a:ln w="9525" cap="rnd">
            <a:solidFill>
              <a:srgbClr val="51585D"/>
            </a:solidFill>
            <a:prstDash val="solid"/>
            <a:headEnd type="none" w="sm" len="sm"/>
            <a:tailEnd type="none" w="sm" len="sm"/>
          </a:ln>
        </p:spPr>
        <p:txBody>
          <a:bodyPr/>
          <a:lstStyle/>
          <a:p>
            <a:endParaRPr lang="fr-FR" sz="1200"/>
          </a:p>
        </p:txBody>
      </p:sp>
      <p:sp>
        <p:nvSpPr>
          <p:cNvPr id="13" name="AutoShape 13">
            <a:extLst>
              <a:ext uri="{FF2B5EF4-FFF2-40B4-BE49-F238E27FC236}">
                <a16:creationId xmlns:a16="http://schemas.microsoft.com/office/drawing/2014/main" id="{7E088FC4-9997-4A9E-FDBE-0E29CE9356FD}"/>
              </a:ext>
            </a:extLst>
          </p:cNvPr>
          <p:cNvSpPr/>
          <p:nvPr/>
        </p:nvSpPr>
        <p:spPr>
          <a:xfrm rot="5121990">
            <a:off x="9369065" y="-135392"/>
            <a:ext cx="78607" cy="0"/>
          </a:xfrm>
          <a:prstGeom prst="line">
            <a:avLst/>
          </a:prstGeom>
          <a:ln w="9525" cap="rnd">
            <a:solidFill>
              <a:srgbClr val="888E94"/>
            </a:solidFill>
            <a:prstDash val="solid"/>
            <a:headEnd type="none" w="sm" len="sm"/>
            <a:tailEnd type="none" w="sm" len="sm"/>
          </a:ln>
        </p:spPr>
        <p:txBody>
          <a:bodyPr/>
          <a:lstStyle/>
          <a:p>
            <a:endParaRPr lang="fr-FR" sz="1200"/>
          </a:p>
        </p:txBody>
      </p:sp>
      <p:sp>
        <p:nvSpPr>
          <p:cNvPr id="14" name="AutoShape 14">
            <a:extLst>
              <a:ext uri="{FF2B5EF4-FFF2-40B4-BE49-F238E27FC236}">
                <a16:creationId xmlns:a16="http://schemas.microsoft.com/office/drawing/2014/main" id="{4A9B4942-D531-E4D8-F4E6-392F0BAEC0EA}"/>
              </a:ext>
            </a:extLst>
          </p:cNvPr>
          <p:cNvSpPr/>
          <p:nvPr/>
        </p:nvSpPr>
        <p:spPr>
          <a:xfrm rot="5121990">
            <a:off x="8721215" y="-135392"/>
            <a:ext cx="78607" cy="0"/>
          </a:xfrm>
          <a:prstGeom prst="line">
            <a:avLst/>
          </a:prstGeom>
          <a:ln w="9525" cap="rnd">
            <a:solidFill>
              <a:srgbClr val="888E94"/>
            </a:solidFill>
            <a:prstDash val="solid"/>
            <a:headEnd type="none" w="sm" len="sm"/>
            <a:tailEnd type="none" w="sm" len="sm"/>
          </a:ln>
        </p:spPr>
        <p:txBody>
          <a:bodyPr/>
          <a:lstStyle/>
          <a:p>
            <a:endParaRPr lang="fr-FR" sz="1200"/>
          </a:p>
        </p:txBody>
      </p:sp>
      <p:sp>
        <p:nvSpPr>
          <p:cNvPr id="15" name="AutoShape 15">
            <a:extLst>
              <a:ext uri="{FF2B5EF4-FFF2-40B4-BE49-F238E27FC236}">
                <a16:creationId xmlns:a16="http://schemas.microsoft.com/office/drawing/2014/main" id="{DEB9377D-269F-7922-3C57-AD750CE66D49}"/>
              </a:ext>
            </a:extLst>
          </p:cNvPr>
          <p:cNvSpPr/>
          <p:nvPr/>
        </p:nvSpPr>
        <p:spPr>
          <a:xfrm rot="5121990">
            <a:off x="3464185" y="-135392"/>
            <a:ext cx="78607" cy="0"/>
          </a:xfrm>
          <a:prstGeom prst="line">
            <a:avLst/>
          </a:prstGeom>
          <a:ln w="9525" cap="rnd">
            <a:solidFill>
              <a:srgbClr val="888E94"/>
            </a:solidFill>
            <a:prstDash val="solid"/>
            <a:headEnd type="none" w="sm" len="sm"/>
            <a:tailEnd type="none" w="sm" len="sm"/>
          </a:ln>
        </p:spPr>
        <p:txBody>
          <a:bodyPr/>
          <a:lstStyle/>
          <a:p>
            <a:endParaRPr lang="fr-FR" sz="1200"/>
          </a:p>
        </p:txBody>
      </p:sp>
      <p:sp>
        <p:nvSpPr>
          <p:cNvPr id="16" name="AutoShape 16">
            <a:extLst>
              <a:ext uri="{FF2B5EF4-FFF2-40B4-BE49-F238E27FC236}">
                <a16:creationId xmlns:a16="http://schemas.microsoft.com/office/drawing/2014/main" id="{DC9652F3-DCBE-7070-B993-96701A8D86CA}"/>
              </a:ext>
            </a:extLst>
          </p:cNvPr>
          <p:cNvSpPr/>
          <p:nvPr/>
        </p:nvSpPr>
        <p:spPr>
          <a:xfrm rot="5121990">
            <a:off x="2816337" y="-135392"/>
            <a:ext cx="78607" cy="0"/>
          </a:xfrm>
          <a:prstGeom prst="line">
            <a:avLst/>
          </a:prstGeom>
          <a:ln w="9525" cap="rnd">
            <a:solidFill>
              <a:srgbClr val="888E94"/>
            </a:solidFill>
            <a:prstDash val="solid"/>
            <a:headEnd type="none" w="sm" len="sm"/>
            <a:tailEnd type="none" w="sm" len="sm"/>
          </a:ln>
        </p:spPr>
        <p:txBody>
          <a:bodyPr/>
          <a:lstStyle/>
          <a:p>
            <a:endParaRPr lang="fr-FR" sz="1200"/>
          </a:p>
        </p:txBody>
      </p:sp>
      <p:grpSp>
        <p:nvGrpSpPr>
          <p:cNvPr id="17" name="Group 17">
            <a:extLst>
              <a:ext uri="{FF2B5EF4-FFF2-40B4-BE49-F238E27FC236}">
                <a16:creationId xmlns:a16="http://schemas.microsoft.com/office/drawing/2014/main" id="{2962B19E-C8F3-B175-B474-93B48008A85B}"/>
              </a:ext>
            </a:extLst>
          </p:cNvPr>
          <p:cNvGrpSpPr/>
          <p:nvPr/>
        </p:nvGrpSpPr>
        <p:grpSpPr>
          <a:xfrm>
            <a:off x="0" y="0"/>
            <a:ext cx="12191995" cy="6858000"/>
            <a:chOff x="0" y="0"/>
            <a:chExt cx="24383990" cy="13716000"/>
          </a:xfrm>
        </p:grpSpPr>
        <p:sp>
          <p:nvSpPr>
            <p:cNvPr id="18" name="Freeform 18">
              <a:extLst>
                <a:ext uri="{FF2B5EF4-FFF2-40B4-BE49-F238E27FC236}">
                  <a16:creationId xmlns:a16="http://schemas.microsoft.com/office/drawing/2014/main" id="{B25103E4-33F1-250B-8095-847D39ADD3D9}"/>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51585D"/>
            </a:solidFill>
          </p:spPr>
          <p:txBody>
            <a:bodyPr/>
            <a:lstStyle/>
            <a:p>
              <a:endParaRPr lang="fr-FR" sz="1200"/>
            </a:p>
          </p:txBody>
        </p:sp>
      </p:grpSp>
      <p:sp>
        <p:nvSpPr>
          <p:cNvPr id="20" name="AutoShape 20">
            <a:extLst>
              <a:ext uri="{FF2B5EF4-FFF2-40B4-BE49-F238E27FC236}">
                <a16:creationId xmlns:a16="http://schemas.microsoft.com/office/drawing/2014/main" id="{3EDC4A13-90F7-FD07-94D9-AAAA8AD618AF}"/>
              </a:ext>
            </a:extLst>
          </p:cNvPr>
          <p:cNvSpPr/>
          <p:nvPr/>
        </p:nvSpPr>
        <p:spPr>
          <a:xfrm rot="18095">
            <a:off x="-1973467" y="2744924"/>
            <a:ext cx="1809550"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21" name="TextBox 21">
            <a:extLst>
              <a:ext uri="{FF2B5EF4-FFF2-40B4-BE49-F238E27FC236}">
                <a16:creationId xmlns:a16="http://schemas.microsoft.com/office/drawing/2014/main" id="{976FE72C-9C38-E361-0865-EA1B5B75439E}"/>
              </a:ext>
            </a:extLst>
          </p:cNvPr>
          <p:cNvSpPr txBox="1"/>
          <p:nvPr/>
        </p:nvSpPr>
        <p:spPr>
          <a:xfrm>
            <a:off x="-1968692" y="2756224"/>
            <a:ext cx="1512169"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Two-line title (1.90)</a:t>
            </a:r>
          </a:p>
        </p:txBody>
      </p:sp>
      <p:sp>
        <p:nvSpPr>
          <p:cNvPr id="22" name="AutoShape 22">
            <a:extLst>
              <a:ext uri="{FF2B5EF4-FFF2-40B4-BE49-F238E27FC236}">
                <a16:creationId xmlns:a16="http://schemas.microsoft.com/office/drawing/2014/main" id="{36D05EA7-069A-66D1-18E6-88DBB715E0D0}"/>
              </a:ext>
            </a:extLst>
          </p:cNvPr>
          <p:cNvSpPr/>
          <p:nvPr/>
        </p:nvSpPr>
        <p:spPr>
          <a:xfrm rot="17742">
            <a:off x="-1973466" y="1916832"/>
            <a:ext cx="1845549"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23" name="TextBox 23">
            <a:extLst>
              <a:ext uri="{FF2B5EF4-FFF2-40B4-BE49-F238E27FC236}">
                <a16:creationId xmlns:a16="http://schemas.microsoft.com/office/drawing/2014/main" id="{88072F50-5378-4F75-3E39-E9E5B70EC192}"/>
              </a:ext>
            </a:extLst>
          </p:cNvPr>
          <p:cNvSpPr txBox="1"/>
          <p:nvPr/>
        </p:nvSpPr>
        <p:spPr>
          <a:xfrm>
            <a:off x="-1968692" y="1928132"/>
            <a:ext cx="1512169"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Single-line title (4.20)</a:t>
            </a:r>
          </a:p>
        </p:txBody>
      </p:sp>
      <p:sp>
        <p:nvSpPr>
          <p:cNvPr id="24" name="AutoShape 24">
            <a:extLst>
              <a:ext uri="{FF2B5EF4-FFF2-40B4-BE49-F238E27FC236}">
                <a16:creationId xmlns:a16="http://schemas.microsoft.com/office/drawing/2014/main" id="{9107CF4A-8A87-A8DC-BFBC-67B147831D8B}"/>
              </a:ext>
            </a:extLst>
          </p:cNvPr>
          <p:cNvSpPr/>
          <p:nvPr/>
        </p:nvSpPr>
        <p:spPr>
          <a:xfrm rot="18095">
            <a:off x="-1973467" y="4401108"/>
            <a:ext cx="1809550"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25" name="TextBox 25">
            <a:extLst>
              <a:ext uri="{FF2B5EF4-FFF2-40B4-BE49-F238E27FC236}">
                <a16:creationId xmlns:a16="http://schemas.microsoft.com/office/drawing/2014/main" id="{AF5D9C7B-704C-2C35-320E-CDC24D9C7F3F}"/>
              </a:ext>
            </a:extLst>
          </p:cNvPr>
          <p:cNvSpPr txBox="1"/>
          <p:nvPr/>
        </p:nvSpPr>
        <p:spPr>
          <a:xfrm>
            <a:off x="-1968692" y="4412408"/>
            <a:ext cx="1512169"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Four-line title (2.70)</a:t>
            </a:r>
          </a:p>
        </p:txBody>
      </p:sp>
      <p:sp>
        <p:nvSpPr>
          <p:cNvPr id="26" name="AutoShape 26">
            <a:extLst>
              <a:ext uri="{FF2B5EF4-FFF2-40B4-BE49-F238E27FC236}">
                <a16:creationId xmlns:a16="http://schemas.microsoft.com/office/drawing/2014/main" id="{39517F61-AF37-699E-DB9C-0D62BC334287}"/>
              </a:ext>
            </a:extLst>
          </p:cNvPr>
          <p:cNvSpPr/>
          <p:nvPr/>
        </p:nvSpPr>
        <p:spPr>
          <a:xfrm rot="18095">
            <a:off x="-1973467" y="3573016"/>
            <a:ext cx="1809550" cy="0"/>
          </a:xfrm>
          <a:prstGeom prst="line">
            <a:avLst/>
          </a:prstGeom>
          <a:ln w="9525" cap="rnd">
            <a:solidFill>
              <a:srgbClr val="000000"/>
            </a:solidFill>
            <a:prstDash val="solid"/>
            <a:headEnd type="none" w="sm" len="sm"/>
            <a:tailEnd type="none" w="sm" len="sm"/>
          </a:ln>
        </p:spPr>
        <p:txBody>
          <a:bodyPr/>
          <a:lstStyle/>
          <a:p>
            <a:endParaRPr lang="fr-FR" sz="1200"/>
          </a:p>
        </p:txBody>
      </p:sp>
      <p:sp>
        <p:nvSpPr>
          <p:cNvPr id="27" name="TextBox 27">
            <a:extLst>
              <a:ext uri="{FF2B5EF4-FFF2-40B4-BE49-F238E27FC236}">
                <a16:creationId xmlns:a16="http://schemas.microsoft.com/office/drawing/2014/main" id="{0DEA7C8E-57D4-DA58-0729-EACC2C2DF38A}"/>
              </a:ext>
            </a:extLst>
          </p:cNvPr>
          <p:cNvSpPr txBox="1"/>
          <p:nvPr/>
        </p:nvSpPr>
        <p:spPr>
          <a:xfrm>
            <a:off x="-1968692" y="3584316"/>
            <a:ext cx="1512169"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Three-line title (0.40)</a:t>
            </a:r>
          </a:p>
        </p:txBody>
      </p:sp>
      <p:sp>
        <p:nvSpPr>
          <p:cNvPr id="28" name="TextBox 28">
            <a:extLst>
              <a:ext uri="{FF2B5EF4-FFF2-40B4-BE49-F238E27FC236}">
                <a16:creationId xmlns:a16="http://schemas.microsoft.com/office/drawing/2014/main" id="{84AD6B91-9DFB-DAF2-2DD7-F2482F0321C8}"/>
              </a:ext>
            </a:extLst>
          </p:cNvPr>
          <p:cNvSpPr txBox="1"/>
          <p:nvPr/>
        </p:nvSpPr>
        <p:spPr>
          <a:xfrm>
            <a:off x="-1932688" y="1472084"/>
            <a:ext cx="1836000" cy="179536"/>
          </a:xfrm>
          <a:prstGeom prst="rect">
            <a:avLst/>
          </a:prstGeom>
        </p:spPr>
        <p:txBody>
          <a:bodyPr lIns="0" tIns="0" rIns="0" bIns="0" rtlCol="0" anchor="t">
            <a:spAutoFit/>
          </a:bodyPr>
          <a:lstStyle/>
          <a:p>
            <a:pPr>
              <a:lnSpc>
                <a:spcPts val="1440"/>
              </a:lnSpc>
            </a:pPr>
            <a:r>
              <a:rPr lang="en-US" sz="1200">
                <a:solidFill>
                  <a:srgbClr val="000000"/>
                </a:solidFill>
                <a:latin typeface="Arimo"/>
                <a:ea typeface="Arimo"/>
                <a:cs typeface="Arimo"/>
                <a:sym typeface="Arimo"/>
              </a:rPr>
              <a:t>Position of the lower bar: </a:t>
            </a:r>
          </a:p>
        </p:txBody>
      </p:sp>
      <p:grpSp>
        <p:nvGrpSpPr>
          <p:cNvPr id="29" name="Group 29">
            <a:extLst>
              <a:ext uri="{FF2B5EF4-FFF2-40B4-BE49-F238E27FC236}">
                <a16:creationId xmlns:a16="http://schemas.microsoft.com/office/drawing/2014/main" id="{1038C223-5580-A110-EAA0-F559BC282034}"/>
              </a:ext>
            </a:extLst>
          </p:cNvPr>
          <p:cNvGrpSpPr/>
          <p:nvPr/>
        </p:nvGrpSpPr>
        <p:grpSpPr>
          <a:xfrm>
            <a:off x="803660" y="2744924"/>
            <a:ext cx="1908000" cy="100800"/>
            <a:chOff x="0" y="0"/>
            <a:chExt cx="3816000" cy="201600"/>
          </a:xfrm>
        </p:grpSpPr>
        <p:sp>
          <p:nvSpPr>
            <p:cNvPr id="30" name="Freeform 30">
              <a:extLst>
                <a:ext uri="{FF2B5EF4-FFF2-40B4-BE49-F238E27FC236}">
                  <a16:creationId xmlns:a16="http://schemas.microsoft.com/office/drawing/2014/main" id="{E839B7CB-2900-FEDF-C29B-71E86DC4A0B3}"/>
                </a:ext>
              </a:extLst>
            </p:cNvPr>
            <p:cNvSpPr/>
            <p:nvPr/>
          </p:nvSpPr>
          <p:spPr>
            <a:xfrm>
              <a:off x="0" y="0"/>
              <a:ext cx="3815969" cy="201549"/>
            </a:xfrm>
            <a:custGeom>
              <a:avLst/>
              <a:gdLst/>
              <a:ahLst/>
              <a:cxnLst/>
              <a:rect l="l" t="t" r="r" b="b"/>
              <a:pathLst>
                <a:path w="3815969" h="201549">
                  <a:moveTo>
                    <a:pt x="0" y="0"/>
                  </a:moveTo>
                  <a:lnTo>
                    <a:pt x="3815969" y="0"/>
                  </a:lnTo>
                  <a:lnTo>
                    <a:pt x="3815969" y="201549"/>
                  </a:lnTo>
                  <a:lnTo>
                    <a:pt x="0" y="201549"/>
                  </a:lnTo>
                  <a:close/>
                </a:path>
              </a:pathLst>
            </a:custGeom>
            <a:solidFill>
              <a:srgbClr val="FFFFFF"/>
            </a:solidFill>
          </p:spPr>
          <p:txBody>
            <a:bodyPr/>
            <a:lstStyle/>
            <a:p>
              <a:endParaRPr lang="fr-FR" sz="1200"/>
            </a:p>
          </p:txBody>
        </p:sp>
      </p:grpSp>
      <p:sp>
        <p:nvSpPr>
          <p:cNvPr id="31" name="ZoneTexte 30">
            <a:extLst>
              <a:ext uri="{FF2B5EF4-FFF2-40B4-BE49-F238E27FC236}">
                <a16:creationId xmlns:a16="http://schemas.microsoft.com/office/drawing/2014/main" id="{807CFA5F-D923-60B4-85EC-6296DA70FD6F}"/>
              </a:ext>
            </a:extLst>
          </p:cNvPr>
          <p:cNvSpPr txBox="1"/>
          <p:nvPr/>
        </p:nvSpPr>
        <p:spPr>
          <a:xfrm>
            <a:off x="803660" y="1534913"/>
            <a:ext cx="2048805" cy="707886"/>
          </a:xfrm>
          <a:prstGeom prst="rect">
            <a:avLst/>
          </a:prstGeom>
          <a:noFill/>
        </p:spPr>
        <p:txBody>
          <a:bodyPr wrap="square" rtlCol="0">
            <a:spAutoFit/>
          </a:bodyPr>
          <a:lstStyle/>
          <a:p>
            <a:r>
              <a:rPr lang="fr-FR" sz="4000" dirty="0">
                <a:latin typeface="Times New Roman" panose="02020603050405020304" pitchFamily="18" charset="0"/>
                <a:cs typeface="Times New Roman" panose="02020603050405020304" pitchFamily="18" charset="0"/>
              </a:rPr>
              <a:t>Annexes</a:t>
            </a:r>
          </a:p>
        </p:txBody>
      </p:sp>
    </p:spTree>
    <p:extLst>
      <p:ext uri="{BB962C8B-B14F-4D97-AF65-F5344CB8AC3E}">
        <p14:creationId xmlns:p14="http://schemas.microsoft.com/office/powerpoint/2010/main" val="277665935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1341</Words>
  <Application>Microsoft Office PowerPoint</Application>
  <PresentationFormat>Grand écran</PresentationFormat>
  <Paragraphs>209</Paragraphs>
  <Slides>16</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Arimo</vt:lpstr>
      <vt:lpstr>Aptos</vt:lpstr>
      <vt:lpstr>Aptos Display</vt:lpstr>
      <vt:lpstr>Arial</vt:lpstr>
      <vt:lpstr>Calibri</vt:lpstr>
      <vt:lpstr>Times New Roman</vt:lpstr>
      <vt:lpstr>Wingdings</vt:lpstr>
      <vt:lpstr>Thème Office</vt:lpstr>
      <vt:lpstr>Présentation PowerPoint</vt:lpstr>
      <vt:lpstr>Sommaire</vt:lpstr>
      <vt:lpstr> Introduction: Problem &amp;  </vt:lpstr>
      <vt:lpstr>Mesh structur</vt:lpstr>
      <vt:lpstr>Part 1 : Finite Volume Approximation</vt:lpstr>
      <vt:lpstr>The Core Mechanism: GPUDirect RDMA   </vt:lpstr>
      <vt:lpstr>The Core Mechanism: GPUDirect RDMA   </vt:lpstr>
      <vt:lpstr>The Core Mechanism: GPUDirect RDMA   </vt:lpstr>
      <vt:lpstr>Experimental Evaluation and Performance Proof</vt:lpstr>
      <vt:lpstr>Experimental Evaluation and Performance Proof</vt:lpstr>
      <vt:lpstr>Experimental Evaluation and Performance Proof</vt:lpstr>
      <vt:lpstr>Conclusion and Perspectives </vt:lpstr>
      <vt:lpstr>Conclusion and Perspectives </vt:lpstr>
      <vt:lpstr>Conclusion and Perspectives  </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KELCH NGOUESSI</dc:creator>
  <cp:lastModifiedBy>KELCH NGOUESSI</cp:lastModifiedBy>
  <cp:revision>24</cp:revision>
  <dcterms:created xsi:type="dcterms:W3CDTF">2025-08-16T11:00:06Z</dcterms:created>
  <dcterms:modified xsi:type="dcterms:W3CDTF">2026-01-22T10:13:05Z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